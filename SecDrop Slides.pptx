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  <p:sldId id="268" r:id="rId13"/>
    <p:sldId id="267" r:id="rId14"/>
    <p:sldId id="273" r:id="rId15"/>
    <p:sldId id="275" r:id="rId16"/>
    <p:sldId id="274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161AA-5D2D-02C1-081F-A57D33465BFD}" v="34" dt="2025-07-31T15:16:18.344"/>
    <p1510:client id="{465E2339-8C79-816F-044B-EB61242F6E38}" v="23" dt="2025-07-30T19:51:49.403"/>
    <p1510:client id="{581844D4-3A67-83D8-A0CF-1664B9BC5716}" v="46" dt="2025-07-31T06:42:53.257"/>
    <p1510:client id="{BBB3C58D-5076-876A-20FF-A082A1783B14}" v="22" dt="2025-07-30T20:35:00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65C0C5-BA9A-4753-A8E7-AD6C36D9351C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D1D656-B3BE-4917-B232-808669B675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Separation of concerns</a:t>
          </a:r>
        </a:p>
      </dgm:t>
    </dgm:pt>
    <dgm:pt modelId="{97CBC54E-BF76-46D8-AD10-E29B95C79B27}" type="parTrans" cxnId="{DD503BBF-9F14-480D-9888-234CC046F9E8}">
      <dgm:prSet/>
      <dgm:spPr/>
      <dgm:t>
        <a:bodyPr/>
        <a:lstStyle/>
        <a:p>
          <a:endParaRPr lang="en-US"/>
        </a:p>
      </dgm:t>
    </dgm:pt>
    <dgm:pt modelId="{1ED5AEC8-075E-4AAD-9630-F2C58BAAA288}" type="sibTrans" cxnId="{DD503BBF-9F14-480D-9888-234CC046F9E8}">
      <dgm:prSet/>
      <dgm:spPr/>
      <dgm:t>
        <a:bodyPr/>
        <a:lstStyle/>
        <a:p>
          <a:endParaRPr lang="en-US"/>
        </a:p>
      </dgm:t>
    </dgm:pt>
    <dgm:pt modelId="{9E3469F5-0278-4C06-B25A-4D10509CE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Reusability </a:t>
          </a:r>
        </a:p>
      </dgm:t>
    </dgm:pt>
    <dgm:pt modelId="{0C36BC01-4ADA-43E7-B1EB-3BDFBC69125B}" type="parTrans" cxnId="{1BBF2DF7-14AB-469D-B054-C80B753C5408}">
      <dgm:prSet/>
      <dgm:spPr/>
      <dgm:t>
        <a:bodyPr/>
        <a:lstStyle/>
        <a:p>
          <a:endParaRPr lang="en-US"/>
        </a:p>
      </dgm:t>
    </dgm:pt>
    <dgm:pt modelId="{6E8DBD5B-32B9-4AD2-AFCC-03320B8376D9}" type="sibTrans" cxnId="{1BBF2DF7-14AB-469D-B054-C80B753C5408}">
      <dgm:prSet/>
      <dgm:spPr/>
      <dgm:t>
        <a:bodyPr/>
        <a:lstStyle/>
        <a:p>
          <a:endParaRPr lang="en-US"/>
        </a:p>
      </dgm:t>
    </dgm:pt>
    <dgm:pt modelId="{54189F75-F1BE-4A78-9A00-881B0514C0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Scalability</a:t>
          </a:r>
        </a:p>
      </dgm:t>
    </dgm:pt>
    <dgm:pt modelId="{98C192E8-C65B-4A0F-9712-2086CE5449CA}" type="parTrans" cxnId="{3802DF22-871B-4996-BF5F-4BBC99920F05}">
      <dgm:prSet/>
      <dgm:spPr/>
      <dgm:t>
        <a:bodyPr/>
        <a:lstStyle/>
        <a:p>
          <a:endParaRPr lang="en-US"/>
        </a:p>
      </dgm:t>
    </dgm:pt>
    <dgm:pt modelId="{A8EE2D00-813B-47E4-8BB9-CBD64EA9EF02}" type="sibTrans" cxnId="{3802DF22-871B-4996-BF5F-4BBC99920F05}">
      <dgm:prSet/>
      <dgm:spPr/>
      <dgm:t>
        <a:bodyPr/>
        <a:lstStyle/>
        <a:p>
          <a:endParaRPr lang="en-US"/>
        </a:p>
      </dgm:t>
    </dgm:pt>
    <dgm:pt modelId="{7C7F1671-C415-43A6-97CF-A31F2F3EDE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Maintains robust and secure logic flow</a:t>
          </a:r>
        </a:p>
      </dgm:t>
    </dgm:pt>
    <dgm:pt modelId="{91D8F188-80B5-4164-8302-BB8B6CC53288}" type="parTrans" cxnId="{32D9FD46-F383-4BDA-A2C5-EE196E31EAB3}">
      <dgm:prSet/>
      <dgm:spPr/>
      <dgm:t>
        <a:bodyPr/>
        <a:lstStyle/>
        <a:p>
          <a:endParaRPr lang="en-US"/>
        </a:p>
      </dgm:t>
    </dgm:pt>
    <dgm:pt modelId="{3959CEFC-C697-4419-824C-A1AFBCA8A03E}" type="sibTrans" cxnId="{32D9FD46-F383-4BDA-A2C5-EE196E31EAB3}">
      <dgm:prSet/>
      <dgm:spPr/>
      <dgm:t>
        <a:bodyPr/>
        <a:lstStyle/>
        <a:p>
          <a:endParaRPr lang="en-US"/>
        </a:p>
      </dgm:t>
    </dgm:pt>
    <dgm:pt modelId="{11CE31A4-04D6-4BEF-AB46-DA105C4091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Minimize the risk of exposing sensitive information</a:t>
          </a:r>
        </a:p>
      </dgm:t>
    </dgm:pt>
    <dgm:pt modelId="{158DE370-1B9F-4F16-B99D-5B884483F599}" type="parTrans" cxnId="{D29ED20F-E249-44FF-AFDB-80A5BFC29604}">
      <dgm:prSet/>
      <dgm:spPr/>
      <dgm:t>
        <a:bodyPr/>
        <a:lstStyle/>
        <a:p>
          <a:endParaRPr lang="en-US"/>
        </a:p>
      </dgm:t>
    </dgm:pt>
    <dgm:pt modelId="{23C4D8C9-5521-484F-B0E0-84AE8D28B96E}" type="sibTrans" cxnId="{D29ED20F-E249-44FF-AFDB-80A5BFC29604}">
      <dgm:prSet/>
      <dgm:spPr/>
      <dgm:t>
        <a:bodyPr/>
        <a:lstStyle/>
        <a:p>
          <a:endParaRPr lang="en-US"/>
        </a:p>
      </dgm:t>
    </dgm:pt>
    <dgm:pt modelId="{5AF40DC3-000A-4A6F-8092-E257D5DE22A8}" type="pres">
      <dgm:prSet presAssocID="{3265C0C5-BA9A-4753-A8E7-AD6C36D9351C}" presName="diagram" presStyleCnt="0">
        <dgm:presLayoutVars>
          <dgm:dir/>
          <dgm:resizeHandles val="exact"/>
        </dgm:presLayoutVars>
      </dgm:prSet>
      <dgm:spPr/>
    </dgm:pt>
    <dgm:pt modelId="{880BB397-CBC5-4373-9234-989009D58BFF}" type="pres">
      <dgm:prSet presAssocID="{60D1D656-B3BE-4917-B232-808669B67529}" presName="node" presStyleLbl="node1" presStyleIdx="0" presStyleCnt="5">
        <dgm:presLayoutVars>
          <dgm:bulletEnabled val="1"/>
        </dgm:presLayoutVars>
      </dgm:prSet>
      <dgm:spPr/>
    </dgm:pt>
    <dgm:pt modelId="{29B0232C-7CBC-43FB-BC26-4E217A5F59ED}" type="pres">
      <dgm:prSet presAssocID="{1ED5AEC8-075E-4AAD-9630-F2C58BAAA288}" presName="sibTrans" presStyleCnt="0"/>
      <dgm:spPr/>
    </dgm:pt>
    <dgm:pt modelId="{DE8002BA-FF91-408A-8B9E-B9179D006330}" type="pres">
      <dgm:prSet presAssocID="{9E3469F5-0278-4C06-B25A-4D10509CE5C3}" presName="node" presStyleLbl="node1" presStyleIdx="1" presStyleCnt="5">
        <dgm:presLayoutVars>
          <dgm:bulletEnabled val="1"/>
        </dgm:presLayoutVars>
      </dgm:prSet>
      <dgm:spPr/>
    </dgm:pt>
    <dgm:pt modelId="{209B2307-AC07-49CF-8DC3-041ED5F9A9B9}" type="pres">
      <dgm:prSet presAssocID="{6E8DBD5B-32B9-4AD2-AFCC-03320B8376D9}" presName="sibTrans" presStyleCnt="0"/>
      <dgm:spPr/>
    </dgm:pt>
    <dgm:pt modelId="{E5CE4F6A-885F-42A7-AEF0-90F47D30DCD0}" type="pres">
      <dgm:prSet presAssocID="{54189F75-F1BE-4A78-9A00-881B0514C0B7}" presName="node" presStyleLbl="node1" presStyleIdx="2" presStyleCnt="5">
        <dgm:presLayoutVars>
          <dgm:bulletEnabled val="1"/>
        </dgm:presLayoutVars>
      </dgm:prSet>
      <dgm:spPr/>
    </dgm:pt>
    <dgm:pt modelId="{613BECD5-2E7C-4000-896B-43950C57C400}" type="pres">
      <dgm:prSet presAssocID="{A8EE2D00-813B-47E4-8BB9-CBD64EA9EF02}" presName="sibTrans" presStyleCnt="0"/>
      <dgm:spPr/>
    </dgm:pt>
    <dgm:pt modelId="{08F63D65-95C8-4182-82FC-2578811E06D2}" type="pres">
      <dgm:prSet presAssocID="{7C7F1671-C415-43A6-97CF-A31F2F3EDE35}" presName="node" presStyleLbl="node1" presStyleIdx="3" presStyleCnt="5">
        <dgm:presLayoutVars>
          <dgm:bulletEnabled val="1"/>
        </dgm:presLayoutVars>
      </dgm:prSet>
      <dgm:spPr/>
    </dgm:pt>
    <dgm:pt modelId="{C63348E9-597B-498B-9B65-F988EBF330CB}" type="pres">
      <dgm:prSet presAssocID="{3959CEFC-C697-4419-824C-A1AFBCA8A03E}" presName="sibTrans" presStyleCnt="0"/>
      <dgm:spPr/>
    </dgm:pt>
    <dgm:pt modelId="{460E8EC7-5990-4059-ACFF-E0B3A879C7A3}" type="pres">
      <dgm:prSet presAssocID="{11CE31A4-04D6-4BEF-AB46-DA105C40912C}" presName="node" presStyleLbl="node1" presStyleIdx="4" presStyleCnt="5">
        <dgm:presLayoutVars>
          <dgm:bulletEnabled val="1"/>
        </dgm:presLayoutVars>
      </dgm:prSet>
      <dgm:spPr/>
    </dgm:pt>
  </dgm:ptLst>
  <dgm:cxnLst>
    <dgm:cxn modelId="{D29ED20F-E249-44FF-AFDB-80A5BFC29604}" srcId="{3265C0C5-BA9A-4753-A8E7-AD6C36D9351C}" destId="{11CE31A4-04D6-4BEF-AB46-DA105C40912C}" srcOrd="4" destOrd="0" parTransId="{158DE370-1B9F-4F16-B99D-5B884483F599}" sibTransId="{23C4D8C9-5521-484F-B0E0-84AE8D28B96E}"/>
    <dgm:cxn modelId="{3802DF22-871B-4996-BF5F-4BBC99920F05}" srcId="{3265C0C5-BA9A-4753-A8E7-AD6C36D9351C}" destId="{54189F75-F1BE-4A78-9A00-881B0514C0B7}" srcOrd="2" destOrd="0" parTransId="{98C192E8-C65B-4A0F-9712-2086CE5449CA}" sibTransId="{A8EE2D00-813B-47E4-8BB9-CBD64EA9EF02}"/>
    <dgm:cxn modelId="{6F83BF3B-323A-4D95-AD65-ED8EB81781BC}" type="presOf" srcId="{3265C0C5-BA9A-4753-A8E7-AD6C36D9351C}" destId="{5AF40DC3-000A-4A6F-8092-E257D5DE22A8}" srcOrd="0" destOrd="0" presId="urn:microsoft.com/office/officeart/2005/8/layout/default"/>
    <dgm:cxn modelId="{32D9FD46-F383-4BDA-A2C5-EE196E31EAB3}" srcId="{3265C0C5-BA9A-4753-A8E7-AD6C36D9351C}" destId="{7C7F1671-C415-43A6-97CF-A31F2F3EDE35}" srcOrd="3" destOrd="0" parTransId="{91D8F188-80B5-4164-8302-BB8B6CC53288}" sibTransId="{3959CEFC-C697-4419-824C-A1AFBCA8A03E}"/>
    <dgm:cxn modelId="{8963B248-DA67-4BA1-B697-07584181AEDB}" type="presOf" srcId="{9E3469F5-0278-4C06-B25A-4D10509CE5C3}" destId="{DE8002BA-FF91-408A-8B9E-B9179D006330}" srcOrd="0" destOrd="0" presId="urn:microsoft.com/office/officeart/2005/8/layout/default"/>
    <dgm:cxn modelId="{C4426F82-E618-45A3-A5F6-71AC168EC4F0}" type="presOf" srcId="{7C7F1671-C415-43A6-97CF-A31F2F3EDE35}" destId="{08F63D65-95C8-4182-82FC-2578811E06D2}" srcOrd="0" destOrd="0" presId="urn:microsoft.com/office/officeart/2005/8/layout/default"/>
    <dgm:cxn modelId="{15096C8D-AAD0-4F4E-92A1-FF7BB7F9A6AB}" type="presOf" srcId="{54189F75-F1BE-4A78-9A00-881B0514C0B7}" destId="{E5CE4F6A-885F-42A7-AEF0-90F47D30DCD0}" srcOrd="0" destOrd="0" presId="urn:microsoft.com/office/officeart/2005/8/layout/default"/>
    <dgm:cxn modelId="{DD503BBF-9F14-480D-9888-234CC046F9E8}" srcId="{3265C0C5-BA9A-4753-A8E7-AD6C36D9351C}" destId="{60D1D656-B3BE-4917-B232-808669B67529}" srcOrd="0" destOrd="0" parTransId="{97CBC54E-BF76-46D8-AD10-E29B95C79B27}" sibTransId="{1ED5AEC8-075E-4AAD-9630-F2C58BAAA288}"/>
    <dgm:cxn modelId="{21AD04F0-41E9-4AB8-8EDB-45350CD32868}" type="presOf" srcId="{11CE31A4-04D6-4BEF-AB46-DA105C40912C}" destId="{460E8EC7-5990-4059-ACFF-E0B3A879C7A3}" srcOrd="0" destOrd="0" presId="urn:microsoft.com/office/officeart/2005/8/layout/default"/>
    <dgm:cxn modelId="{E75E67F6-12D1-4065-86B2-B9A982B7FD00}" type="presOf" srcId="{60D1D656-B3BE-4917-B232-808669B67529}" destId="{880BB397-CBC5-4373-9234-989009D58BFF}" srcOrd="0" destOrd="0" presId="urn:microsoft.com/office/officeart/2005/8/layout/default"/>
    <dgm:cxn modelId="{1BBF2DF7-14AB-469D-B054-C80B753C5408}" srcId="{3265C0C5-BA9A-4753-A8E7-AD6C36D9351C}" destId="{9E3469F5-0278-4C06-B25A-4D10509CE5C3}" srcOrd="1" destOrd="0" parTransId="{0C36BC01-4ADA-43E7-B1EB-3BDFBC69125B}" sibTransId="{6E8DBD5B-32B9-4AD2-AFCC-03320B8376D9}"/>
    <dgm:cxn modelId="{494DA6AE-134A-4292-A7E0-6316DC45DEB3}" type="presParOf" srcId="{5AF40DC3-000A-4A6F-8092-E257D5DE22A8}" destId="{880BB397-CBC5-4373-9234-989009D58BFF}" srcOrd="0" destOrd="0" presId="urn:microsoft.com/office/officeart/2005/8/layout/default"/>
    <dgm:cxn modelId="{17A19697-D6DE-44FB-940F-0261A936B5E1}" type="presParOf" srcId="{5AF40DC3-000A-4A6F-8092-E257D5DE22A8}" destId="{29B0232C-7CBC-43FB-BC26-4E217A5F59ED}" srcOrd="1" destOrd="0" presId="urn:microsoft.com/office/officeart/2005/8/layout/default"/>
    <dgm:cxn modelId="{CA51284D-BF81-4E71-AEC0-8A44A67DE79A}" type="presParOf" srcId="{5AF40DC3-000A-4A6F-8092-E257D5DE22A8}" destId="{DE8002BA-FF91-408A-8B9E-B9179D006330}" srcOrd="2" destOrd="0" presId="urn:microsoft.com/office/officeart/2005/8/layout/default"/>
    <dgm:cxn modelId="{0CA2468C-B622-487B-A961-21F7F7CBF94A}" type="presParOf" srcId="{5AF40DC3-000A-4A6F-8092-E257D5DE22A8}" destId="{209B2307-AC07-49CF-8DC3-041ED5F9A9B9}" srcOrd="3" destOrd="0" presId="urn:microsoft.com/office/officeart/2005/8/layout/default"/>
    <dgm:cxn modelId="{1144105E-52A7-4FA5-A1D7-B399EBC95EBD}" type="presParOf" srcId="{5AF40DC3-000A-4A6F-8092-E257D5DE22A8}" destId="{E5CE4F6A-885F-42A7-AEF0-90F47D30DCD0}" srcOrd="4" destOrd="0" presId="urn:microsoft.com/office/officeart/2005/8/layout/default"/>
    <dgm:cxn modelId="{9D327215-A317-48E9-8AE2-F390180E3D09}" type="presParOf" srcId="{5AF40DC3-000A-4A6F-8092-E257D5DE22A8}" destId="{613BECD5-2E7C-4000-896B-43950C57C400}" srcOrd="5" destOrd="0" presId="urn:microsoft.com/office/officeart/2005/8/layout/default"/>
    <dgm:cxn modelId="{839A97DC-9600-4A98-AF60-269678B39C83}" type="presParOf" srcId="{5AF40DC3-000A-4A6F-8092-E257D5DE22A8}" destId="{08F63D65-95C8-4182-82FC-2578811E06D2}" srcOrd="6" destOrd="0" presId="urn:microsoft.com/office/officeart/2005/8/layout/default"/>
    <dgm:cxn modelId="{1549163B-5FCF-4C40-BF95-3A1FA8F5B8C3}" type="presParOf" srcId="{5AF40DC3-000A-4A6F-8092-E257D5DE22A8}" destId="{C63348E9-597B-498B-9B65-F988EBF330CB}" srcOrd="7" destOrd="0" presId="urn:microsoft.com/office/officeart/2005/8/layout/default"/>
    <dgm:cxn modelId="{1F0C6B91-F97D-4525-8CE4-889B32DC04CC}" type="presParOf" srcId="{5AF40DC3-000A-4A6F-8092-E257D5DE22A8}" destId="{460E8EC7-5990-4059-ACFF-E0B3A879C7A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1B52D9-7FB2-4926-A085-4AF0D6B593FF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9874DA8-01B3-4F97-94FD-A522F0504F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Grandview Display"/>
            </a:rPr>
            <a:t>Drag-&amp;-drop multi-file uploads in React, protected by a 7-digit passphrase</a:t>
          </a:r>
          <a:endParaRPr lang="en-US"/>
        </a:p>
      </dgm:t>
    </dgm:pt>
    <dgm:pt modelId="{9286BF61-0DA3-47C0-B637-92229BF259BC}" type="parTrans" cxnId="{0D26BEBD-FBD7-4A5D-BA03-AC9BA4356C2A}">
      <dgm:prSet/>
      <dgm:spPr/>
      <dgm:t>
        <a:bodyPr/>
        <a:lstStyle/>
        <a:p>
          <a:endParaRPr lang="en-US"/>
        </a:p>
      </dgm:t>
    </dgm:pt>
    <dgm:pt modelId="{86A2CE0C-B80D-4629-AA11-0CB149A14EBD}" type="sibTrans" cxnId="{0D26BEBD-FBD7-4A5D-BA03-AC9BA4356C2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FDF9935-FAE5-4184-A668-A6B0766916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End-to-End Encryption</a:t>
          </a:r>
          <a:br>
            <a:rPr lang="en-US" b="1"/>
          </a:br>
          <a:r>
            <a:rPr lang="en-US" b="1"/>
            <a:t> • Client-side AES-256-GCM + PBKDF2 key derivation; server-side decryption on download</a:t>
          </a:r>
          <a:endParaRPr lang="en-US"/>
        </a:p>
      </dgm:t>
    </dgm:pt>
    <dgm:pt modelId="{E38E035A-2944-405F-9509-0873B0ED8BCE}" type="parTrans" cxnId="{87DAF3B4-5419-4A7A-A9AA-BF901DE0CFB0}">
      <dgm:prSet/>
      <dgm:spPr/>
      <dgm:t>
        <a:bodyPr/>
        <a:lstStyle/>
        <a:p>
          <a:endParaRPr lang="en-US"/>
        </a:p>
      </dgm:t>
    </dgm:pt>
    <dgm:pt modelId="{BA25D43F-071A-457C-9F3F-B87A21935D04}" type="sibTrans" cxnId="{87DAF3B4-5419-4A7A-A9AA-BF901DE0CF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A327150-7F4C-44D7-8552-85F4D9B423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One-Time Code Verification</a:t>
          </a:r>
          <a:br>
            <a:rPr lang="en-US" b="1"/>
          </a:br>
          <a:endParaRPr lang="en-US" b="1"/>
        </a:p>
      </dgm:t>
    </dgm:pt>
    <dgm:pt modelId="{FEDB039B-C556-4670-80AA-E9EF8AC827C7}" type="parTrans" cxnId="{C330171D-F53E-4073-B006-37C34E2E1EC4}">
      <dgm:prSet/>
      <dgm:spPr/>
      <dgm:t>
        <a:bodyPr/>
        <a:lstStyle/>
        <a:p>
          <a:endParaRPr lang="en-US"/>
        </a:p>
      </dgm:t>
    </dgm:pt>
    <dgm:pt modelId="{57FA3421-9274-42FC-8F30-56A3814AC1A7}" type="sibTrans" cxnId="{C330171D-F53E-4073-B006-37C34E2E1E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74475F-5B15-41F6-BD3F-2C374A4D52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Download Links &amp; QR Codes</a:t>
          </a:r>
          <a:br>
            <a:rPr lang="en-US" b="1"/>
          </a:br>
          <a:endParaRPr lang="en-US"/>
        </a:p>
      </dgm:t>
    </dgm:pt>
    <dgm:pt modelId="{E629C09C-87D2-49F3-BF7A-5A7C732AA925}" type="parTrans" cxnId="{B5AC5C44-E621-4142-877A-C58D7C7226D2}">
      <dgm:prSet/>
      <dgm:spPr/>
      <dgm:t>
        <a:bodyPr/>
        <a:lstStyle/>
        <a:p>
          <a:endParaRPr lang="en-US"/>
        </a:p>
      </dgm:t>
    </dgm:pt>
    <dgm:pt modelId="{564C5946-C769-43E3-A06B-D06A621EDF91}" type="sibTrans" cxnId="{B5AC5C44-E621-4142-877A-C58D7C7226D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DAE1C4-639F-4F59-BEC5-D5560631F5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Scalable, Modular Backend</a:t>
          </a:r>
          <a:br>
            <a:rPr lang="en-US" b="1"/>
          </a:br>
          <a:endParaRPr lang="en-US" b="1">
            <a:solidFill>
              <a:srgbClr val="000000"/>
            </a:solidFill>
            <a:latin typeface="Grandview Display"/>
          </a:endParaRPr>
        </a:p>
      </dgm:t>
    </dgm:pt>
    <dgm:pt modelId="{C5C6E214-6225-4730-AD1A-F35B426278EB}" type="parTrans" cxnId="{08E5D8F9-EA44-4695-8D7E-CC8433608E66}">
      <dgm:prSet/>
      <dgm:spPr/>
      <dgm:t>
        <a:bodyPr/>
        <a:lstStyle/>
        <a:p>
          <a:endParaRPr lang="en-US"/>
        </a:p>
      </dgm:t>
    </dgm:pt>
    <dgm:pt modelId="{7EE349D9-44D2-4ADA-BD8F-5B6DFE3F1C92}" type="sibTrans" cxnId="{08E5D8F9-EA44-4695-8D7E-CC8433608E6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6A6B9A5-9E82-4FED-B56D-C93A23B91F7F}" type="pres">
      <dgm:prSet presAssocID="{831B52D9-7FB2-4926-A085-4AF0D6B593FF}" presName="root" presStyleCnt="0">
        <dgm:presLayoutVars>
          <dgm:dir/>
          <dgm:resizeHandles val="exact"/>
        </dgm:presLayoutVars>
      </dgm:prSet>
      <dgm:spPr/>
    </dgm:pt>
    <dgm:pt modelId="{DFCED832-1962-4BF0-8308-B2FA2945488E}" type="pres">
      <dgm:prSet presAssocID="{831B52D9-7FB2-4926-A085-4AF0D6B593FF}" presName="container" presStyleCnt="0">
        <dgm:presLayoutVars>
          <dgm:dir/>
          <dgm:resizeHandles val="exact"/>
        </dgm:presLayoutVars>
      </dgm:prSet>
      <dgm:spPr/>
    </dgm:pt>
    <dgm:pt modelId="{E12F952A-D30C-415A-BDEC-B099582FF54B}" type="pres">
      <dgm:prSet presAssocID="{69874DA8-01B3-4F97-94FD-A522F0504FE5}" presName="compNode" presStyleCnt="0"/>
      <dgm:spPr/>
    </dgm:pt>
    <dgm:pt modelId="{EE01EBD3-74CB-4719-B17F-62D028C73EAD}" type="pres">
      <dgm:prSet presAssocID="{69874DA8-01B3-4F97-94FD-A522F0504FE5}" presName="iconBgRect" presStyleLbl="bgShp" presStyleIdx="0" presStyleCnt="5"/>
      <dgm:spPr/>
    </dgm:pt>
    <dgm:pt modelId="{29EF50AD-CCE2-445C-8CA4-F304D2B72404}" type="pres">
      <dgm:prSet presAssocID="{69874DA8-01B3-4F97-94FD-A522F0504FE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A4A14C0-D93D-4038-B34F-619C5EB191C8}" type="pres">
      <dgm:prSet presAssocID="{69874DA8-01B3-4F97-94FD-A522F0504FE5}" presName="spaceRect" presStyleCnt="0"/>
      <dgm:spPr/>
    </dgm:pt>
    <dgm:pt modelId="{80A40EFC-597B-499D-966B-33D973D3C892}" type="pres">
      <dgm:prSet presAssocID="{69874DA8-01B3-4F97-94FD-A522F0504FE5}" presName="textRect" presStyleLbl="revTx" presStyleIdx="0" presStyleCnt="5">
        <dgm:presLayoutVars>
          <dgm:chMax val="1"/>
          <dgm:chPref val="1"/>
        </dgm:presLayoutVars>
      </dgm:prSet>
      <dgm:spPr/>
    </dgm:pt>
    <dgm:pt modelId="{C9B9D738-3EFF-4757-81E7-4871ABCDC198}" type="pres">
      <dgm:prSet presAssocID="{86A2CE0C-B80D-4629-AA11-0CB149A14EBD}" presName="sibTrans" presStyleLbl="sibTrans2D1" presStyleIdx="0" presStyleCnt="0"/>
      <dgm:spPr/>
    </dgm:pt>
    <dgm:pt modelId="{724FC68F-9AC8-46AB-BADC-A821D9D7CA1A}" type="pres">
      <dgm:prSet presAssocID="{4FDF9935-FAE5-4184-A668-A6B076691654}" presName="compNode" presStyleCnt="0"/>
      <dgm:spPr/>
    </dgm:pt>
    <dgm:pt modelId="{7C5111CF-4BD1-4216-9DB4-611151C727D3}" type="pres">
      <dgm:prSet presAssocID="{4FDF9935-FAE5-4184-A668-A6B076691654}" presName="iconBgRect" presStyleLbl="bgShp" presStyleIdx="1" presStyleCnt="5"/>
      <dgm:spPr/>
    </dgm:pt>
    <dgm:pt modelId="{E4BF9D71-784E-4D8E-B883-DA0F70534963}" type="pres">
      <dgm:prSet presAssocID="{4FDF9935-FAE5-4184-A668-A6B07669165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6E5179F-1B6B-4619-B20F-83527B830FA8}" type="pres">
      <dgm:prSet presAssocID="{4FDF9935-FAE5-4184-A668-A6B076691654}" presName="spaceRect" presStyleCnt="0"/>
      <dgm:spPr/>
    </dgm:pt>
    <dgm:pt modelId="{01D56A1E-5E45-4CC6-B357-1FEF6F8A1BE8}" type="pres">
      <dgm:prSet presAssocID="{4FDF9935-FAE5-4184-A668-A6B076691654}" presName="textRect" presStyleLbl="revTx" presStyleIdx="1" presStyleCnt="5">
        <dgm:presLayoutVars>
          <dgm:chMax val="1"/>
          <dgm:chPref val="1"/>
        </dgm:presLayoutVars>
      </dgm:prSet>
      <dgm:spPr/>
    </dgm:pt>
    <dgm:pt modelId="{47EDED5C-A363-4FED-B4C1-A61527D7EDAB}" type="pres">
      <dgm:prSet presAssocID="{BA25D43F-071A-457C-9F3F-B87A21935D04}" presName="sibTrans" presStyleLbl="sibTrans2D1" presStyleIdx="0" presStyleCnt="0"/>
      <dgm:spPr/>
    </dgm:pt>
    <dgm:pt modelId="{BEE87F27-645D-4ED1-9ED9-29CAE724AD29}" type="pres">
      <dgm:prSet presAssocID="{CA327150-7F4C-44D7-8552-85F4D9B42388}" presName="compNode" presStyleCnt="0"/>
      <dgm:spPr/>
    </dgm:pt>
    <dgm:pt modelId="{F22F15F6-804D-45D9-BEDA-442DC8E1907A}" type="pres">
      <dgm:prSet presAssocID="{CA327150-7F4C-44D7-8552-85F4D9B42388}" presName="iconBgRect" presStyleLbl="bgShp" presStyleIdx="2" presStyleCnt="5"/>
      <dgm:spPr/>
    </dgm:pt>
    <dgm:pt modelId="{B30307F5-F2FA-4A18-BAF0-9CAB1F2E38CC}" type="pres">
      <dgm:prSet presAssocID="{CA327150-7F4C-44D7-8552-85F4D9B4238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037E8B5-8C74-4DE4-9BF9-E204D94C0BDA}" type="pres">
      <dgm:prSet presAssocID="{CA327150-7F4C-44D7-8552-85F4D9B42388}" presName="spaceRect" presStyleCnt="0"/>
      <dgm:spPr/>
    </dgm:pt>
    <dgm:pt modelId="{5DE46CE1-8913-41C3-8C57-901010785254}" type="pres">
      <dgm:prSet presAssocID="{CA327150-7F4C-44D7-8552-85F4D9B42388}" presName="textRect" presStyleLbl="revTx" presStyleIdx="2" presStyleCnt="5">
        <dgm:presLayoutVars>
          <dgm:chMax val="1"/>
          <dgm:chPref val="1"/>
        </dgm:presLayoutVars>
      </dgm:prSet>
      <dgm:spPr/>
    </dgm:pt>
    <dgm:pt modelId="{0CBDD628-89CB-449D-A042-8F31C6EB2D55}" type="pres">
      <dgm:prSet presAssocID="{57FA3421-9274-42FC-8F30-56A3814AC1A7}" presName="sibTrans" presStyleLbl="sibTrans2D1" presStyleIdx="0" presStyleCnt="0"/>
      <dgm:spPr/>
    </dgm:pt>
    <dgm:pt modelId="{FC419DDA-8CB9-4AF5-901C-159EC90C680A}" type="pres">
      <dgm:prSet presAssocID="{2974475F-5B15-41F6-BD3F-2C374A4D5236}" presName="compNode" presStyleCnt="0"/>
      <dgm:spPr/>
    </dgm:pt>
    <dgm:pt modelId="{401FE13D-8743-41EE-B77E-C19ABE6C5E4C}" type="pres">
      <dgm:prSet presAssocID="{2974475F-5B15-41F6-BD3F-2C374A4D5236}" presName="iconBgRect" presStyleLbl="bgShp" presStyleIdx="3" presStyleCnt="5"/>
      <dgm:spPr/>
    </dgm:pt>
    <dgm:pt modelId="{E88A96D6-49B4-4794-B492-B8060C8A0E0F}" type="pres">
      <dgm:prSet presAssocID="{2974475F-5B15-41F6-BD3F-2C374A4D523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C695D980-449C-4DD0-96FE-094FAA62B6E5}" type="pres">
      <dgm:prSet presAssocID="{2974475F-5B15-41F6-BD3F-2C374A4D5236}" presName="spaceRect" presStyleCnt="0"/>
      <dgm:spPr/>
    </dgm:pt>
    <dgm:pt modelId="{EB5D6540-1A0B-4361-A64C-781A37D51209}" type="pres">
      <dgm:prSet presAssocID="{2974475F-5B15-41F6-BD3F-2C374A4D5236}" presName="textRect" presStyleLbl="revTx" presStyleIdx="3" presStyleCnt="5">
        <dgm:presLayoutVars>
          <dgm:chMax val="1"/>
          <dgm:chPref val="1"/>
        </dgm:presLayoutVars>
      </dgm:prSet>
      <dgm:spPr/>
    </dgm:pt>
    <dgm:pt modelId="{C34F6646-648B-442A-8ED6-9ABAD23411AE}" type="pres">
      <dgm:prSet presAssocID="{564C5946-C769-43E3-A06B-D06A621EDF91}" presName="sibTrans" presStyleLbl="sibTrans2D1" presStyleIdx="0" presStyleCnt="0"/>
      <dgm:spPr/>
    </dgm:pt>
    <dgm:pt modelId="{CED2E8F8-B29B-4E20-9C3C-88B202C7FE18}" type="pres">
      <dgm:prSet presAssocID="{69DAE1C4-639F-4F59-BEC5-D5560631F55E}" presName="compNode" presStyleCnt="0"/>
      <dgm:spPr/>
    </dgm:pt>
    <dgm:pt modelId="{47CFB39A-CA27-402F-9BAE-ED9B352A0B70}" type="pres">
      <dgm:prSet presAssocID="{69DAE1C4-639F-4F59-BEC5-D5560631F55E}" presName="iconBgRect" presStyleLbl="bgShp" presStyleIdx="4" presStyleCnt="5"/>
      <dgm:spPr/>
    </dgm:pt>
    <dgm:pt modelId="{C94BA585-813C-4D61-BEB3-7A851CBE7D88}" type="pres">
      <dgm:prSet presAssocID="{69DAE1C4-639F-4F59-BEC5-D5560631F55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5EA00BA-94E4-4E68-BEF3-D82661CC0171}" type="pres">
      <dgm:prSet presAssocID="{69DAE1C4-639F-4F59-BEC5-D5560631F55E}" presName="spaceRect" presStyleCnt="0"/>
      <dgm:spPr/>
    </dgm:pt>
    <dgm:pt modelId="{4B491D2D-168F-450F-91D0-FA4A48A364A9}" type="pres">
      <dgm:prSet presAssocID="{69DAE1C4-639F-4F59-BEC5-D5560631F55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330171D-F53E-4073-B006-37C34E2E1EC4}" srcId="{831B52D9-7FB2-4926-A085-4AF0D6B593FF}" destId="{CA327150-7F4C-44D7-8552-85F4D9B42388}" srcOrd="2" destOrd="0" parTransId="{FEDB039B-C556-4670-80AA-E9EF8AC827C7}" sibTransId="{57FA3421-9274-42FC-8F30-56A3814AC1A7}"/>
    <dgm:cxn modelId="{839B5D2B-920D-4C3D-87A4-DD143E0D0A03}" type="presOf" srcId="{4FDF9935-FAE5-4184-A668-A6B076691654}" destId="{01D56A1E-5E45-4CC6-B357-1FEF6F8A1BE8}" srcOrd="0" destOrd="0" presId="urn:microsoft.com/office/officeart/2018/2/layout/IconCircleList"/>
    <dgm:cxn modelId="{C2341A61-374F-4855-9CD9-0678F86B6A12}" type="presOf" srcId="{BA25D43F-071A-457C-9F3F-B87A21935D04}" destId="{47EDED5C-A363-4FED-B4C1-A61527D7EDAB}" srcOrd="0" destOrd="0" presId="urn:microsoft.com/office/officeart/2018/2/layout/IconCircleList"/>
    <dgm:cxn modelId="{B5AC5C44-E621-4142-877A-C58D7C7226D2}" srcId="{831B52D9-7FB2-4926-A085-4AF0D6B593FF}" destId="{2974475F-5B15-41F6-BD3F-2C374A4D5236}" srcOrd="3" destOrd="0" parTransId="{E629C09C-87D2-49F3-BF7A-5A7C732AA925}" sibTransId="{564C5946-C769-43E3-A06B-D06A621EDF91}"/>
    <dgm:cxn modelId="{6CD88855-3868-4FDE-8836-9E9FFFF42EA8}" type="presOf" srcId="{69874DA8-01B3-4F97-94FD-A522F0504FE5}" destId="{80A40EFC-597B-499D-966B-33D973D3C892}" srcOrd="0" destOrd="0" presId="urn:microsoft.com/office/officeart/2018/2/layout/IconCircleList"/>
    <dgm:cxn modelId="{A817F97A-EA4D-4F4F-8298-B4D98FF8A653}" type="presOf" srcId="{CA327150-7F4C-44D7-8552-85F4D9B42388}" destId="{5DE46CE1-8913-41C3-8C57-901010785254}" srcOrd="0" destOrd="0" presId="urn:microsoft.com/office/officeart/2018/2/layout/IconCircleList"/>
    <dgm:cxn modelId="{59F10C90-4A53-4C1A-879C-8E6EBEF216AD}" type="presOf" srcId="{57FA3421-9274-42FC-8F30-56A3814AC1A7}" destId="{0CBDD628-89CB-449D-A042-8F31C6EB2D55}" srcOrd="0" destOrd="0" presId="urn:microsoft.com/office/officeart/2018/2/layout/IconCircleList"/>
    <dgm:cxn modelId="{8C320991-C5EA-4785-8C86-988859C22DFA}" type="presOf" srcId="{86A2CE0C-B80D-4629-AA11-0CB149A14EBD}" destId="{C9B9D738-3EFF-4757-81E7-4871ABCDC198}" srcOrd="0" destOrd="0" presId="urn:microsoft.com/office/officeart/2018/2/layout/IconCircleList"/>
    <dgm:cxn modelId="{AC05B394-34B3-4F76-BF6E-613D214365E0}" type="presOf" srcId="{2974475F-5B15-41F6-BD3F-2C374A4D5236}" destId="{EB5D6540-1A0B-4361-A64C-781A37D51209}" srcOrd="0" destOrd="0" presId="urn:microsoft.com/office/officeart/2018/2/layout/IconCircleList"/>
    <dgm:cxn modelId="{87DAF3B4-5419-4A7A-A9AA-BF901DE0CFB0}" srcId="{831B52D9-7FB2-4926-A085-4AF0D6B593FF}" destId="{4FDF9935-FAE5-4184-A668-A6B076691654}" srcOrd="1" destOrd="0" parTransId="{E38E035A-2944-405F-9509-0873B0ED8BCE}" sibTransId="{BA25D43F-071A-457C-9F3F-B87A21935D04}"/>
    <dgm:cxn modelId="{0D26BEBD-FBD7-4A5D-BA03-AC9BA4356C2A}" srcId="{831B52D9-7FB2-4926-A085-4AF0D6B593FF}" destId="{69874DA8-01B3-4F97-94FD-A522F0504FE5}" srcOrd="0" destOrd="0" parTransId="{9286BF61-0DA3-47C0-B637-92229BF259BC}" sibTransId="{86A2CE0C-B80D-4629-AA11-0CB149A14EBD}"/>
    <dgm:cxn modelId="{D1DA44E0-C305-46BC-8E98-2C0BBB53A3F7}" type="presOf" srcId="{69DAE1C4-639F-4F59-BEC5-D5560631F55E}" destId="{4B491D2D-168F-450F-91D0-FA4A48A364A9}" srcOrd="0" destOrd="0" presId="urn:microsoft.com/office/officeart/2018/2/layout/IconCircleList"/>
    <dgm:cxn modelId="{CB3500E4-FD85-4589-9197-4DB72EABE99C}" type="presOf" srcId="{564C5946-C769-43E3-A06B-D06A621EDF91}" destId="{C34F6646-648B-442A-8ED6-9ABAD23411AE}" srcOrd="0" destOrd="0" presId="urn:microsoft.com/office/officeart/2018/2/layout/IconCircleList"/>
    <dgm:cxn modelId="{EC8193EE-4BAD-45BF-BB31-EDA478133DB9}" type="presOf" srcId="{831B52D9-7FB2-4926-A085-4AF0D6B593FF}" destId="{76A6B9A5-9E82-4FED-B56D-C93A23B91F7F}" srcOrd="0" destOrd="0" presId="urn:microsoft.com/office/officeart/2018/2/layout/IconCircleList"/>
    <dgm:cxn modelId="{08E5D8F9-EA44-4695-8D7E-CC8433608E66}" srcId="{831B52D9-7FB2-4926-A085-4AF0D6B593FF}" destId="{69DAE1C4-639F-4F59-BEC5-D5560631F55E}" srcOrd="4" destOrd="0" parTransId="{C5C6E214-6225-4730-AD1A-F35B426278EB}" sibTransId="{7EE349D9-44D2-4ADA-BD8F-5B6DFE3F1C92}"/>
    <dgm:cxn modelId="{78985418-33AD-4E04-BBEF-118FF4A82708}" type="presParOf" srcId="{76A6B9A5-9E82-4FED-B56D-C93A23B91F7F}" destId="{DFCED832-1962-4BF0-8308-B2FA2945488E}" srcOrd="0" destOrd="0" presId="urn:microsoft.com/office/officeart/2018/2/layout/IconCircleList"/>
    <dgm:cxn modelId="{00B10454-3E77-4250-96CB-2EF51DB18683}" type="presParOf" srcId="{DFCED832-1962-4BF0-8308-B2FA2945488E}" destId="{E12F952A-D30C-415A-BDEC-B099582FF54B}" srcOrd="0" destOrd="0" presId="urn:microsoft.com/office/officeart/2018/2/layout/IconCircleList"/>
    <dgm:cxn modelId="{3EC63503-D4E8-4AF3-8533-00838982CC65}" type="presParOf" srcId="{E12F952A-D30C-415A-BDEC-B099582FF54B}" destId="{EE01EBD3-74CB-4719-B17F-62D028C73EAD}" srcOrd="0" destOrd="0" presId="urn:microsoft.com/office/officeart/2018/2/layout/IconCircleList"/>
    <dgm:cxn modelId="{201A514B-B1FE-48A8-A842-F6CC270C14B4}" type="presParOf" srcId="{E12F952A-D30C-415A-BDEC-B099582FF54B}" destId="{29EF50AD-CCE2-445C-8CA4-F304D2B72404}" srcOrd="1" destOrd="0" presId="urn:microsoft.com/office/officeart/2018/2/layout/IconCircleList"/>
    <dgm:cxn modelId="{83FE8858-7F56-4092-911B-B1BA32E0C9C3}" type="presParOf" srcId="{E12F952A-D30C-415A-BDEC-B099582FF54B}" destId="{8A4A14C0-D93D-4038-B34F-619C5EB191C8}" srcOrd="2" destOrd="0" presId="urn:microsoft.com/office/officeart/2018/2/layout/IconCircleList"/>
    <dgm:cxn modelId="{9329B276-D1DA-4235-8A61-55CDAB35730C}" type="presParOf" srcId="{E12F952A-D30C-415A-BDEC-B099582FF54B}" destId="{80A40EFC-597B-499D-966B-33D973D3C892}" srcOrd="3" destOrd="0" presId="urn:microsoft.com/office/officeart/2018/2/layout/IconCircleList"/>
    <dgm:cxn modelId="{71FB871B-2482-45CB-B0EF-32462FEA3743}" type="presParOf" srcId="{DFCED832-1962-4BF0-8308-B2FA2945488E}" destId="{C9B9D738-3EFF-4757-81E7-4871ABCDC198}" srcOrd="1" destOrd="0" presId="urn:microsoft.com/office/officeart/2018/2/layout/IconCircleList"/>
    <dgm:cxn modelId="{19421B50-1EAB-4FF1-AF55-8B44ABF971D0}" type="presParOf" srcId="{DFCED832-1962-4BF0-8308-B2FA2945488E}" destId="{724FC68F-9AC8-46AB-BADC-A821D9D7CA1A}" srcOrd="2" destOrd="0" presId="urn:microsoft.com/office/officeart/2018/2/layout/IconCircleList"/>
    <dgm:cxn modelId="{E74A18F5-9FC1-45CA-B510-2356E9B75183}" type="presParOf" srcId="{724FC68F-9AC8-46AB-BADC-A821D9D7CA1A}" destId="{7C5111CF-4BD1-4216-9DB4-611151C727D3}" srcOrd="0" destOrd="0" presId="urn:microsoft.com/office/officeart/2018/2/layout/IconCircleList"/>
    <dgm:cxn modelId="{175C0654-1447-4CA0-80DB-2248D6873DF9}" type="presParOf" srcId="{724FC68F-9AC8-46AB-BADC-A821D9D7CA1A}" destId="{E4BF9D71-784E-4D8E-B883-DA0F70534963}" srcOrd="1" destOrd="0" presId="urn:microsoft.com/office/officeart/2018/2/layout/IconCircleList"/>
    <dgm:cxn modelId="{8D5A429D-C92E-4955-97F1-BA33B7F34FB9}" type="presParOf" srcId="{724FC68F-9AC8-46AB-BADC-A821D9D7CA1A}" destId="{C6E5179F-1B6B-4619-B20F-83527B830FA8}" srcOrd="2" destOrd="0" presId="urn:microsoft.com/office/officeart/2018/2/layout/IconCircleList"/>
    <dgm:cxn modelId="{54664D03-F452-4CE6-BBC2-E017EDB247EE}" type="presParOf" srcId="{724FC68F-9AC8-46AB-BADC-A821D9D7CA1A}" destId="{01D56A1E-5E45-4CC6-B357-1FEF6F8A1BE8}" srcOrd="3" destOrd="0" presId="urn:microsoft.com/office/officeart/2018/2/layout/IconCircleList"/>
    <dgm:cxn modelId="{CEA54A0B-F8FF-40E1-B067-C35F6104992E}" type="presParOf" srcId="{DFCED832-1962-4BF0-8308-B2FA2945488E}" destId="{47EDED5C-A363-4FED-B4C1-A61527D7EDAB}" srcOrd="3" destOrd="0" presId="urn:microsoft.com/office/officeart/2018/2/layout/IconCircleList"/>
    <dgm:cxn modelId="{4D3311A8-2D44-49C1-8B43-825E0828DB44}" type="presParOf" srcId="{DFCED832-1962-4BF0-8308-B2FA2945488E}" destId="{BEE87F27-645D-4ED1-9ED9-29CAE724AD29}" srcOrd="4" destOrd="0" presId="urn:microsoft.com/office/officeart/2018/2/layout/IconCircleList"/>
    <dgm:cxn modelId="{934BC3A8-BAC6-4520-8DA2-3EC8DA6E7BF3}" type="presParOf" srcId="{BEE87F27-645D-4ED1-9ED9-29CAE724AD29}" destId="{F22F15F6-804D-45D9-BEDA-442DC8E1907A}" srcOrd="0" destOrd="0" presId="urn:microsoft.com/office/officeart/2018/2/layout/IconCircleList"/>
    <dgm:cxn modelId="{899E6B46-AA18-47AD-9C88-859CEAD49DEF}" type="presParOf" srcId="{BEE87F27-645D-4ED1-9ED9-29CAE724AD29}" destId="{B30307F5-F2FA-4A18-BAF0-9CAB1F2E38CC}" srcOrd="1" destOrd="0" presId="urn:microsoft.com/office/officeart/2018/2/layout/IconCircleList"/>
    <dgm:cxn modelId="{18645DD5-A571-4CD1-80EC-1B559E2A5ECB}" type="presParOf" srcId="{BEE87F27-645D-4ED1-9ED9-29CAE724AD29}" destId="{7037E8B5-8C74-4DE4-9BF9-E204D94C0BDA}" srcOrd="2" destOrd="0" presId="urn:microsoft.com/office/officeart/2018/2/layout/IconCircleList"/>
    <dgm:cxn modelId="{C8A2668A-ED5F-4F72-9DDC-12DB938E8517}" type="presParOf" srcId="{BEE87F27-645D-4ED1-9ED9-29CAE724AD29}" destId="{5DE46CE1-8913-41C3-8C57-901010785254}" srcOrd="3" destOrd="0" presId="urn:microsoft.com/office/officeart/2018/2/layout/IconCircleList"/>
    <dgm:cxn modelId="{13549DA3-C0AF-42D8-B5F7-FF0EFF13D01E}" type="presParOf" srcId="{DFCED832-1962-4BF0-8308-B2FA2945488E}" destId="{0CBDD628-89CB-449D-A042-8F31C6EB2D55}" srcOrd="5" destOrd="0" presId="urn:microsoft.com/office/officeart/2018/2/layout/IconCircleList"/>
    <dgm:cxn modelId="{0E7F1545-7638-4357-AEA4-D7A8065BB8CE}" type="presParOf" srcId="{DFCED832-1962-4BF0-8308-B2FA2945488E}" destId="{FC419DDA-8CB9-4AF5-901C-159EC90C680A}" srcOrd="6" destOrd="0" presId="urn:microsoft.com/office/officeart/2018/2/layout/IconCircleList"/>
    <dgm:cxn modelId="{9856C6E9-1ADD-40BC-8C80-E660E1D1CBCC}" type="presParOf" srcId="{FC419DDA-8CB9-4AF5-901C-159EC90C680A}" destId="{401FE13D-8743-41EE-B77E-C19ABE6C5E4C}" srcOrd="0" destOrd="0" presId="urn:microsoft.com/office/officeart/2018/2/layout/IconCircleList"/>
    <dgm:cxn modelId="{C26A8256-382C-4A25-AEB3-3E516C6DE03C}" type="presParOf" srcId="{FC419DDA-8CB9-4AF5-901C-159EC90C680A}" destId="{E88A96D6-49B4-4794-B492-B8060C8A0E0F}" srcOrd="1" destOrd="0" presId="urn:microsoft.com/office/officeart/2018/2/layout/IconCircleList"/>
    <dgm:cxn modelId="{FB896EDA-7B5F-4A3D-B4C9-695F8A7E1B0C}" type="presParOf" srcId="{FC419DDA-8CB9-4AF5-901C-159EC90C680A}" destId="{C695D980-449C-4DD0-96FE-094FAA62B6E5}" srcOrd="2" destOrd="0" presId="urn:microsoft.com/office/officeart/2018/2/layout/IconCircleList"/>
    <dgm:cxn modelId="{CF6005B9-0138-492F-9530-C0AECFE3EDBD}" type="presParOf" srcId="{FC419DDA-8CB9-4AF5-901C-159EC90C680A}" destId="{EB5D6540-1A0B-4361-A64C-781A37D51209}" srcOrd="3" destOrd="0" presId="urn:microsoft.com/office/officeart/2018/2/layout/IconCircleList"/>
    <dgm:cxn modelId="{A119CF15-0BCD-4413-9AB7-66CCBC3C0E00}" type="presParOf" srcId="{DFCED832-1962-4BF0-8308-B2FA2945488E}" destId="{C34F6646-648B-442A-8ED6-9ABAD23411AE}" srcOrd="7" destOrd="0" presId="urn:microsoft.com/office/officeart/2018/2/layout/IconCircleList"/>
    <dgm:cxn modelId="{15166062-B8B0-4940-9627-08EC8E47A1C8}" type="presParOf" srcId="{DFCED832-1962-4BF0-8308-B2FA2945488E}" destId="{CED2E8F8-B29B-4E20-9C3C-88B202C7FE18}" srcOrd="8" destOrd="0" presId="urn:microsoft.com/office/officeart/2018/2/layout/IconCircleList"/>
    <dgm:cxn modelId="{3839FCC9-44C3-48DD-BE0F-C66A612492FA}" type="presParOf" srcId="{CED2E8F8-B29B-4E20-9C3C-88B202C7FE18}" destId="{47CFB39A-CA27-402F-9BAE-ED9B352A0B70}" srcOrd="0" destOrd="0" presId="urn:microsoft.com/office/officeart/2018/2/layout/IconCircleList"/>
    <dgm:cxn modelId="{41ECA0EB-AE82-4802-8633-473DCD6E6ADF}" type="presParOf" srcId="{CED2E8F8-B29B-4E20-9C3C-88B202C7FE18}" destId="{C94BA585-813C-4D61-BEB3-7A851CBE7D88}" srcOrd="1" destOrd="0" presId="urn:microsoft.com/office/officeart/2018/2/layout/IconCircleList"/>
    <dgm:cxn modelId="{4DD5612B-E24A-4A32-9301-FFC626CF70C6}" type="presParOf" srcId="{CED2E8F8-B29B-4E20-9C3C-88B202C7FE18}" destId="{D5EA00BA-94E4-4E68-BEF3-D82661CC0171}" srcOrd="2" destOrd="0" presId="urn:microsoft.com/office/officeart/2018/2/layout/IconCircleList"/>
    <dgm:cxn modelId="{3FC8864C-011C-4A93-9E20-34D5F6A02AB6}" type="presParOf" srcId="{CED2E8F8-B29B-4E20-9C3C-88B202C7FE18}" destId="{4B491D2D-168F-450F-91D0-FA4A48A364A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BB397-CBC5-4373-9234-989009D58BFF}">
      <dsp:nvSpPr>
        <dsp:cNvPr id="0" name=""/>
        <dsp:cNvSpPr/>
      </dsp:nvSpPr>
      <dsp:spPr>
        <a:xfrm>
          <a:off x="1020127" y="730"/>
          <a:ext cx="2600920" cy="156055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Separation of concerns</a:t>
          </a:r>
        </a:p>
      </dsp:txBody>
      <dsp:txXfrm>
        <a:off x="1020127" y="730"/>
        <a:ext cx="2600920" cy="1560552"/>
      </dsp:txXfrm>
    </dsp:sp>
    <dsp:sp modelId="{DE8002BA-FF91-408A-8B9E-B9179D006330}">
      <dsp:nvSpPr>
        <dsp:cNvPr id="0" name=""/>
        <dsp:cNvSpPr/>
      </dsp:nvSpPr>
      <dsp:spPr>
        <a:xfrm>
          <a:off x="3881139" y="730"/>
          <a:ext cx="2600920" cy="156055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Reusability </a:t>
          </a:r>
        </a:p>
      </dsp:txBody>
      <dsp:txXfrm>
        <a:off x="3881139" y="730"/>
        <a:ext cx="2600920" cy="1560552"/>
      </dsp:txXfrm>
    </dsp:sp>
    <dsp:sp modelId="{E5CE4F6A-885F-42A7-AEF0-90F47D30DCD0}">
      <dsp:nvSpPr>
        <dsp:cNvPr id="0" name=""/>
        <dsp:cNvSpPr/>
      </dsp:nvSpPr>
      <dsp:spPr>
        <a:xfrm>
          <a:off x="6742152" y="730"/>
          <a:ext cx="2600920" cy="156055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Scalability</a:t>
          </a:r>
        </a:p>
      </dsp:txBody>
      <dsp:txXfrm>
        <a:off x="6742152" y="730"/>
        <a:ext cx="2600920" cy="1560552"/>
      </dsp:txXfrm>
    </dsp:sp>
    <dsp:sp modelId="{08F63D65-95C8-4182-82FC-2578811E06D2}">
      <dsp:nvSpPr>
        <dsp:cNvPr id="0" name=""/>
        <dsp:cNvSpPr/>
      </dsp:nvSpPr>
      <dsp:spPr>
        <a:xfrm>
          <a:off x="2450633" y="1821375"/>
          <a:ext cx="2600920" cy="156055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Maintains robust and secure logic flow</a:t>
          </a:r>
        </a:p>
      </dsp:txBody>
      <dsp:txXfrm>
        <a:off x="2450633" y="1821375"/>
        <a:ext cx="2600920" cy="1560552"/>
      </dsp:txXfrm>
    </dsp:sp>
    <dsp:sp modelId="{460E8EC7-5990-4059-ACFF-E0B3A879C7A3}">
      <dsp:nvSpPr>
        <dsp:cNvPr id="0" name=""/>
        <dsp:cNvSpPr/>
      </dsp:nvSpPr>
      <dsp:spPr>
        <a:xfrm>
          <a:off x="5311646" y="1821375"/>
          <a:ext cx="2600920" cy="156055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Minimize the risk of exposing sensitive information</a:t>
          </a:r>
        </a:p>
      </dsp:txBody>
      <dsp:txXfrm>
        <a:off x="5311646" y="1821375"/>
        <a:ext cx="2600920" cy="1560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01EBD3-74CB-4719-B17F-62D028C73EAD}">
      <dsp:nvSpPr>
        <dsp:cNvPr id="0" name=""/>
        <dsp:cNvSpPr/>
      </dsp:nvSpPr>
      <dsp:spPr>
        <a:xfrm>
          <a:off x="37178" y="511891"/>
          <a:ext cx="891912" cy="89191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F50AD-CCE2-445C-8CA4-F304D2B72404}">
      <dsp:nvSpPr>
        <dsp:cNvPr id="0" name=""/>
        <dsp:cNvSpPr/>
      </dsp:nvSpPr>
      <dsp:spPr>
        <a:xfrm>
          <a:off x="224480" y="699192"/>
          <a:ext cx="517308" cy="5173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40EFC-597B-499D-966B-33D973D3C892}">
      <dsp:nvSpPr>
        <dsp:cNvPr id="0" name=""/>
        <dsp:cNvSpPr/>
      </dsp:nvSpPr>
      <dsp:spPr>
        <a:xfrm>
          <a:off x="1120214" y="511891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Grandview Display"/>
            </a:rPr>
            <a:t>Drag-&amp;-drop multi-file uploads in React, protected by a 7-digit passphrase</a:t>
          </a:r>
          <a:endParaRPr lang="en-US" sz="1100" kern="1200"/>
        </a:p>
      </dsp:txBody>
      <dsp:txXfrm>
        <a:off x="1120214" y="511891"/>
        <a:ext cx="2102364" cy="891912"/>
      </dsp:txXfrm>
    </dsp:sp>
    <dsp:sp modelId="{7C5111CF-4BD1-4216-9DB4-611151C727D3}">
      <dsp:nvSpPr>
        <dsp:cNvPr id="0" name=""/>
        <dsp:cNvSpPr/>
      </dsp:nvSpPr>
      <dsp:spPr>
        <a:xfrm>
          <a:off x="3588900" y="511891"/>
          <a:ext cx="891912" cy="89191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F9D71-784E-4D8E-B883-DA0F70534963}">
      <dsp:nvSpPr>
        <dsp:cNvPr id="0" name=""/>
        <dsp:cNvSpPr/>
      </dsp:nvSpPr>
      <dsp:spPr>
        <a:xfrm>
          <a:off x="3776201" y="699192"/>
          <a:ext cx="517308" cy="5173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56A1E-5E45-4CC6-B357-1FEF6F8A1BE8}">
      <dsp:nvSpPr>
        <dsp:cNvPr id="0" name=""/>
        <dsp:cNvSpPr/>
      </dsp:nvSpPr>
      <dsp:spPr>
        <a:xfrm>
          <a:off x="4671935" y="511891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End-to-End Encryption</a:t>
          </a:r>
          <a:br>
            <a:rPr lang="en-US" sz="1100" b="1" kern="1200"/>
          </a:br>
          <a:r>
            <a:rPr lang="en-US" sz="1100" b="1" kern="1200"/>
            <a:t> • Client-side AES-256-GCM + PBKDF2 key derivation; server-side decryption on download</a:t>
          </a:r>
          <a:endParaRPr lang="en-US" sz="1100" kern="1200"/>
        </a:p>
      </dsp:txBody>
      <dsp:txXfrm>
        <a:off x="4671935" y="511891"/>
        <a:ext cx="2102364" cy="891912"/>
      </dsp:txXfrm>
    </dsp:sp>
    <dsp:sp modelId="{F22F15F6-804D-45D9-BEDA-442DC8E1907A}">
      <dsp:nvSpPr>
        <dsp:cNvPr id="0" name=""/>
        <dsp:cNvSpPr/>
      </dsp:nvSpPr>
      <dsp:spPr>
        <a:xfrm>
          <a:off x="7140621" y="511891"/>
          <a:ext cx="891912" cy="89191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0307F5-F2FA-4A18-BAF0-9CAB1F2E38CC}">
      <dsp:nvSpPr>
        <dsp:cNvPr id="0" name=""/>
        <dsp:cNvSpPr/>
      </dsp:nvSpPr>
      <dsp:spPr>
        <a:xfrm>
          <a:off x="7327922" y="699192"/>
          <a:ext cx="517308" cy="5173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E46CE1-8913-41C3-8C57-901010785254}">
      <dsp:nvSpPr>
        <dsp:cNvPr id="0" name=""/>
        <dsp:cNvSpPr/>
      </dsp:nvSpPr>
      <dsp:spPr>
        <a:xfrm>
          <a:off x="8223657" y="511891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One-Time Code Verification</a:t>
          </a:r>
          <a:br>
            <a:rPr lang="en-US" sz="1100" b="1" kern="1200"/>
          </a:br>
          <a:endParaRPr lang="en-US" sz="1100" b="1" kern="1200"/>
        </a:p>
      </dsp:txBody>
      <dsp:txXfrm>
        <a:off x="8223657" y="511891"/>
        <a:ext cx="2102364" cy="891912"/>
      </dsp:txXfrm>
    </dsp:sp>
    <dsp:sp modelId="{401FE13D-8743-41EE-B77E-C19ABE6C5E4C}">
      <dsp:nvSpPr>
        <dsp:cNvPr id="0" name=""/>
        <dsp:cNvSpPr/>
      </dsp:nvSpPr>
      <dsp:spPr>
        <a:xfrm>
          <a:off x="37178" y="1978854"/>
          <a:ext cx="891912" cy="89191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A96D6-49B4-4794-B492-B8060C8A0E0F}">
      <dsp:nvSpPr>
        <dsp:cNvPr id="0" name=""/>
        <dsp:cNvSpPr/>
      </dsp:nvSpPr>
      <dsp:spPr>
        <a:xfrm>
          <a:off x="224480" y="2166156"/>
          <a:ext cx="517308" cy="5173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D6540-1A0B-4361-A64C-781A37D51209}">
      <dsp:nvSpPr>
        <dsp:cNvPr id="0" name=""/>
        <dsp:cNvSpPr/>
      </dsp:nvSpPr>
      <dsp:spPr>
        <a:xfrm>
          <a:off x="1120214" y="1978854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Download Links &amp; QR Codes</a:t>
          </a:r>
          <a:br>
            <a:rPr lang="en-US" sz="1100" b="1" kern="1200"/>
          </a:br>
          <a:endParaRPr lang="en-US" sz="1100" kern="1200"/>
        </a:p>
      </dsp:txBody>
      <dsp:txXfrm>
        <a:off x="1120214" y="1978854"/>
        <a:ext cx="2102364" cy="891912"/>
      </dsp:txXfrm>
    </dsp:sp>
    <dsp:sp modelId="{47CFB39A-CA27-402F-9BAE-ED9B352A0B70}">
      <dsp:nvSpPr>
        <dsp:cNvPr id="0" name=""/>
        <dsp:cNvSpPr/>
      </dsp:nvSpPr>
      <dsp:spPr>
        <a:xfrm>
          <a:off x="3588900" y="1978854"/>
          <a:ext cx="891912" cy="891912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4BA585-813C-4D61-BEB3-7A851CBE7D88}">
      <dsp:nvSpPr>
        <dsp:cNvPr id="0" name=""/>
        <dsp:cNvSpPr/>
      </dsp:nvSpPr>
      <dsp:spPr>
        <a:xfrm>
          <a:off x="3776201" y="2166156"/>
          <a:ext cx="517308" cy="5173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91D2D-168F-450F-91D0-FA4A48A364A9}">
      <dsp:nvSpPr>
        <dsp:cNvPr id="0" name=""/>
        <dsp:cNvSpPr/>
      </dsp:nvSpPr>
      <dsp:spPr>
        <a:xfrm>
          <a:off x="4671936" y="1978854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Scalable, Modular Backend</a:t>
          </a:r>
          <a:br>
            <a:rPr lang="en-US" sz="1100" b="1" kern="1200"/>
          </a:br>
          <a:endParaRPr lang="en-US" sz="1100" b="1" kern="1200">
            <a:solidFill>
              <a:srgbClr val="000000"/>
            </a:solidFill>
            <a:latin typeface="Grandview Display"/>
          </a:endParaRPr>
        </a:p>
      </dsp:txBody>
      <dsp:txXfrm>
        <a:off x="4671936" y="1978854"/>
        <a:ext cx="2102364" cy="891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7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2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1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5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3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4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0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1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5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9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2B63FD1-D64C-B32D-DDDC-4A4B5F7D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/>
              <a:t>Secdrop-</a:t>
            </a:r>
            <a:r>
              <a:rPr lang="en-US" b="1" kern="1200">
                <a:latin typeface="+mj-lt"/>
                <a:ea typeface="+mj-ea"/>
                <a:cs typeface="+mj-cs"/>
              </a:rPr>
              <a:t> Secure Encrypted File Sharing Platform</a:t>
            </a:r>
          </a:p>
        </p:txBody>
      </p:sp>
      <p:pic>
        <p:nvPicPr>
          <p:cNvPr id="22" name="Picture 21" descr="Secure File Sharing- Ensuring Data Security and and Privacy | nasscom | The Official Community ...">
            <a:extLst>
              <a:ext uri="{FF2B5EF4-FFF2-40B4-BE49-F238E27FC236}">
                <a16:creationId xmlns:a16="http://schemas.microsoft.com/office/drawing/2014/main" id="{B2E93B24-29A3-E554-2F60-20F46C3623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8" r="92" b="6"/>
          <a:stretch>
            <a:fillRect/>
          </a:stretch>
        </p:blipFill>
        <p:spPr>
          <a:xfrm>
            <a:off x="5183188" y="987425"/>
            <a:ext cx="6172200" cy="4873625"/>
          </a:xfrm>
          <a:prstGeom prst="rect">
            <a:avLst/>
          </a:prstGeom>
          <a:noFill/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A5FBA87-6147-8843-BC88-3FA051859457}"/>
              </a:ext>
            </a:extLst>
          </p:cNvPr>
          <p:cNvSpPr txBox="1"/>
          <p:nvPr/>
        </p:nvSpPr>
        <p:spPr>
          <a:xfrm>
            <a:off x="912628" y="2934586"/>
            <a:ext cx="3859397" cy="293440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en-US" sz="1600" b="1" kern="1200">
                <a:latin typeface="+mn-lt"/>
                <a:ea typeface="+mn-ea"/>
                <a:cs typeface="+mn-cs"/>
              </a:rPr>
              <a:t>Team Members:</a:t>
            </a:r>
          </a:p>
          <a:p>
            <a:pPr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en-US" sz="1600" kern="1200">
                <a:latin typeface="+mn-lt"/>
                <a:ea typeface="+mn-ea"/>
                <a:cs typeface="+mn-cs"/>
              </a:rPr>
              <a:t>Dilpreet Sidhu</a:t>
            </a:r>
          </a:p>
          <a:p>
            <a:pPr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en-US" sz="1600" kern="1200">
                <a:latin typeface="+mn-lt"/>
                <a:ea typeface="+mn-ea"/>
                <a:cs typeface="+mn-cs"/>
              </a:rPr>
              <a:t>Gurpreet Kaur</a:t>
            </a:r>
          </a:p>
          <a:p>
            <a:pPr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en-US" sz="1600" kern="1200">
                <a:latin typeface="+mn-lt"/>
                <a:ea typeface="+mn-ea"/>
                <a:cs typeface="+mn-cs"/>
              </a:rPr>
              <a:t>Priyanshu </a:t>
            </a:r>
          </a:p>
          <a:p>
            <a:pPr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en-US" sz="1600" kern="1200">
                <a:latin typeface="+mn-lt"/>
                <a:ea typeface="+mn-ea"/>
                <a:cs typeface="+mn-cs"/>
              </a:rPr>
              <a:t>Jenil Chaklasiya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134856F8-1939-2347-68BD-9EFBB9FA5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AA11D46-1D07-4C18-BE99-38032C8090EF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61F3C-DA45-5167-F229-5B726CC0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b="1" kern="1200" cap="all" spc="300" baseline="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4C5A29D5-058B-401E-F7FC-E2970403A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F1E7FD5-955D-84BF-D72A-0DAABE8B5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 anchor="t">
            <a:normAutofit/>
          </a:bodyPr>
          <a:lstStyle/>
          <a:p>
            <a:r>
              <a:rPr lang="en-US" b="1"/>
              <a:t>Problem Definition</a:t>
            </a:r>
          </a:p>
        </p:txBody>
      </p:sp>
      <p:pic>
        <p:nvPicPr>
          <p:cNvPr id="4" name="Picture Placeholder 3" descr="A screen shot of a computer">
            <a:extLst>
              <a:ext uri="{FF2B5EF4-FFF2-40B4-BE49-F238E27FC236}">
                <a16:creationId xmlns:a16="http://schemas.microsoft.com/office/drawing/2014/main" id="{AF83D045-71DA-03C8-38F4-572F4CB3D2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/>
        </p:blipFill>
        <p:spPr>
          <a:xfrm>
            <a:off x="914400" y="3248615"/>
            <a:ext cx="5105400" cy="2412301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8B7717F-375B-F586-917B-D602D8D87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sz="1700" dirty="0"/>
              <a:t>Existing platforms such as Drobox, google Drive doesn’t follow "privacy by default"</a:t>
            </a:r>
          </a:p>
          <a:p>
            <a:pPr marL="285750" indent="-285750"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sz="1700" dirty="0"/>
              <a:t>Often require account creation, complicating usability</a:t>
            </a:r>
          </a:p>
          <a:p>
            <a:pPr marL="285750" indent="-285750"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sz="1700" dirty="0"/>
              <a:t>Need: free, anonymous, secure, encrypted file sharing platform with ease-of-use.</a:t>
            </a:r>
          </a:p>
          <a:p>
            <a:pPr marL="285750" indent="-285750"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sz="1700" dirty="0"/>
              <a:t>Solution: </a:t>
            </a:r>
            <a:r>
              <a:rPr lang="en-US" sz="1700" dirty="0" err="1"/>
              <a:t>Secdrop</a:t>
            </a:r>
            <a:r>
              <a:rPr lang="en-US" sz="1700" dirty="0"/>
              <a:t> with AES-256 encryption, password protection, and token-based access</a:t>
            </a:r>
          </a:p>
          <a:p>
            <a:pPr marL="285750" indent="-285750">
              <a:lnSpc>
                <a:spcPct val="110000"/>
              </a:lnSpc>
              <a:buFont typeface="Calibri" panose="020B0604020202020204" pitchFamily="34" charset="0"/>
              <a:buChar char="-"/>
            </a:pPr>
            <a:endParaRPr lang="en-US" sz="17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F1190-AC2F-1A20-1410-CDEC46ED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237F2C-3B17-4680-B0AF-4348E0501E57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8979E-A616-309C-FE99-E8B81098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FBBE8-D51F-4452-8FAA-746C5437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92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DA2A3-918F-207E-0206-A86DB5A44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327195"/>
            <a:ext cx="3859397" cy="35528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Anonymous Sharing: no account or personal info required</a:t>
            </a:r>
            <a:endParaRPr lang="en-US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Built-in E2E Encryption: AES-256-GCM on every upload/download</a:t>
            </a:r>
            <a:endParaRPr lang="en-US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Password &amp; OTP Protection: 7-digit code + one-time code deliveries via email</a:t>
            </a:r>
            <a:endParaRPr lang="en-US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Free Admin Controls (future): size limits, expirations, manual deletes</a:t>
            </a:r>
            <a:endParaRPr lang="en-US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02199-70B0-86FC-3E39-E39903222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>
            <a:normAutofit/>
          </a:bodyPr>
          <a:lstStyle/>
          <a:p>
            <a:r>
              <a:rPr lang="en-US"/>
              <a:t>Application Benefits</a:t>
            </a:r>
            <a:br>
              <a:rPr lang="en-US"/>
            </a:b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CDBF2-72DB-FC51-A93A-82932B4F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3C324E-E474-4D52-A379-7EF406D514CF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94956-2FC3-374F-7770-BEBC9CF2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996CD-E51F-4FB7-DA50-36884F22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16" name="Picture Placeholder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1FA0EE-D302-0630-511E-EB0ECAFB70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172" t="-6327" r="-352" b="9172"/>
          <a:stretch>
            <a:fillRect/>
          </a:stretch>
        </p:blipFill>
        <p:spPr>
          <a:xfrm>
            <a:off x="4997228" y="338216"/>
            <a:ext cx="5852217" cy="583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1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4FA05-08F2-D864-C16A-244E48F8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 anchor="t">
            <a:normAutofit/>
          </a:bodyPr>
          <a:lstStyle/>
          <a:p>
            <a:r>
              <a:rPr lang="en-US"/>
              <a:t>USE CASE DIAGRAM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8FAF1-97A6-B764-8A28-7436C3154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Functional Requirement of Admin User: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Set upload rules (size, expiry)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Delete files (manually/automatically)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Monitor logs (uploads/downloads/share links)</a:t>
            </a:r>
          </a:p>
          <a:p>
            <a:endParaRPr lang="en-US"/>
          </a:p>
        </p:txBody>
      </p:sp>
      <p:pic>
        <p:nvPicPr>
          <p:cNvPr id="8" name="Picture Placeholder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C40C1090-9B26-A1E7-CF16-0D510F9A40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/>
        </p:blipFill>
        <p:spPr>
          <a:xfrm>
            <a:off x="5773882" y="1729569"/>
            <a:ext cx="5417128" cy="4368007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C1B17-418E-B9EB-7AF2-63A2656A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3F790C9-7E86-4134-967F-D75A475A2A34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ED104-3D41-9B97-8347-C58CA189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0C306-0801-E295-0591-0B7C31CD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2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E294D61-02EA-A8C7-366E-3DF1953B4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 anchor="t">
            <a:normAutofit/>
          </a:bodyPr>
          <a:lstStyle/>
          <a:p>
            <a:r>
              <a:rPr lang="en-US"/>
              <a:t>USE CASE DIAGRAM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9BA377F-BA11-4920-16C3-19ED8912E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Functional Requirement of General User: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Upload file (AES-256 encrypted)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Generate password-protected link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Download file (with authentication)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Receive error feedback</a:t>
            </a:r>
          </a:p>
          <a:p>
            <a:endParaRPr lang="en-US"/>
          </a:p>
        </p:txBody>
      </p:sp>
      <p:pic>
        <p:nvPicPr>
          <p:cNvPr id="8" name="Content Placeholder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AB0773BB-8646-53EC-422D-2B38DEB976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/>
        </p:blipFill>
        <p:spPr>
          <a:xfrm>
            <a:off x="6085609" y="1504433"/>
            <a:ext cx="5105401" cy="4437280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648A2-EDBA-AD2B-2CEF-AB6B356D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C998AAB-633A-4735-A5D9-2617D00C0063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0FE0F-FEC6-E6E7-9C21-5A41FA93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296AF-739C-4045-6119-93BEDBFD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73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8B1E8-045C-6C6A-B60D-28D70BCCD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5667532" cy="1471548"/>
          </a:xfrm>
        </p:spPr>
        <p:txBody>
          <a:bodyPr>
            <a:normAutofit/>
          </a:bodyPr>
          <a:lstStyle/>
          <a:p>
            <a:r>
              <a:rPr lang="en-US" b="1"/>
              <a:t>Software Architecture - Three-Layer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2CFE3-DF79-FA9C-78DD-E48F2706F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768637"/>
            <a:ext cx="6010079" cy="35911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Presentation Layer (Frontend)-(HTML/CSS/JS)</a:t>
            </a:r>
            <a:endParaRPr lang="en-US" b="1">
              <a:solidFill>
                <a:srgbClr val="FF0000"/>
              </a:solidFill>
            </a:endParaRPr>
          </a:p>
          <a:p>
            <a:r>
              <a:rPr lang="en-US">
                <a:ea typeface="+mn-lt"/>
                <a:cs typeface="+mn-lt"/>
              </a:rPr>
              <a:t>User-facing layer of the software which is responsible for a smooth user interface. It is responsible for handling the UI components:</a:t>
            </a:r>
          </a:p>
          <a:p>
            <a:r>
              <a:rPr lang="en-US">
                <a:ea typeface="+mn-lt"/>
                <a:cs typeface="+mn-lt"/>
              </a:rPr>
              <a:t>-Uploading and downloading the files</a:t>
            </a:r>
          </a:p>
          <a:p>
            <a:r>
              <a:rPr lang="en-US">
                <a:ea typeface="+mn-lt"/>
                <a:cs typeface="+mn-lt"/>
              </a:rPr>
              <a:t>-Entering passwords or tokens</a:t>
            </a:r>
          </a:p>
          <a:p>
            <a:r>
              <a:rPr lang="en-US">
                <a:ea typeface="+mn-lt"/>
                <a:cs typeface="+mn-lt"/>
              </a:rPr>
              <a:t>-Displaying error feedback or confirmations of the operations</a:t>
            </a:r>
          </a:p>
          <a:p>
            <a:r>
              <a:rPr lang="en-US">
                <a:ea typeface="+mn-lt"/>
                <a:cs typeface="+mn-lt"/>
              </a:rPr>
              <a:t>-Provides secure communications with backend via API calls</a:t>
            </a:r>
          </a:p>
          <a:p>
            <a:pPr marL="285750" indent="-285750">
              <a:buAutoNum type="arabicPeriod"/>
            </a:pPr>
            <a:endParaRPr lang="en-US" sz="1200"/>
          </a:p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735C5-04A2-B917-F33C-BE124E8D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B698E-EC38-43D4-B1DD-F04D37937269}" type="datetime1"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D33A2-57B1-4FEA-BB39-AF37347F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7FEC8-AB9C-671C-3C02-1C130FD1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E0DFEF-724F-F7E4-5905-0F84F9AD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645" y="182043"/>
            <a:ext cx="4418116" cy="652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5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FD3D-E3DE-C5C2-24CF-98EACB2E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4566179" cy="1018766"/>
          </a:xfrm>
        </p:spPr>
        <p:txBody>
          <a:bodyPr/>
          <a:lstStyle/>
          <a:p>
            <a:r>
              <a:rPr lang="en-US" sz="2900" b="1"/>
              <a:t>Software Architecture - Three-Layer Design</a:t>
            </a:r>
            <a:endParaRPr lang="en-US" b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4CD01-F314-B3FB-1679-79B070703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481505"/>
            <a:ext cx="6776017" cy="36243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Business Logic Layer: Encryption, password validation (Node.js)</a:t>
            </a:r>
            <a:endParaRPr lang="en-US" b="1">
              <a:solidFill>
                <a:srgbClr val="000000"/>
              </a:solidFill>
            </a:endParaRPr>
          </a:p>
          <a:p>
            <a:r>
              <a:rPr lang="en-US">
                <a:ea typeface="+mn-lt"/>
                <a:cs typeface="+mn-lt"/>
              </a:rPr>
              <a:t>It handles the logic and processing of key operations. It is implemented  using Express.js framework and is responsible for:</a:t>
            </a:r>
          </a:p>
          <a:p>
            <a:pPr marL="285750" indent="-285750">
              <a:buFont typeface="Aptos"/>
              <a:buChar char="•"/>
            </a:pPr>
            <a:r>
              <a:rPr lang="en-US">
                <a:ea typeface="+mn-lt"/>
                <a:cs typeface="+mn-lt"/>
              </a:rPr>
              <a:t>File encryption and decryption (AES-256-GCM)</a:t>
            </a:r>
          </a:p>
          <a:p>
            <a:pPr marL="285750" indent="-285750">
              <a:buFont typeface="Aptos"/>
              <a:buChar char="•"/>
            </a:pPr>
            <a:r>
              <a:rPr lang="en-US">
                <a:ea typeface="+mn-lt"/>
                <a:cs typeface="+mn-lt"/>
              </a:rPr>
              <a:t>Password and token validation</a:t>
            </a:r>
          </a:p>
          <a:p>
            <a:pPr marL="285750" indent="-285750">
              <a:buFont typeface="Aptos"/>
              <a:buChar char="•"/>
            </a:pPr>
            <a:r>
              <a:rPr lang="en-US">
                <a:ea typeface="+mn-lt"/>
                <a:cs typeface="+mn-lt"/>
              </a:rPr>
              <a:t>Secure file upload</a:t>
            </a:r>
          </a:p>
          <a:p>
            <a:pPr marL="285750" indent="-285750">
              <a:buFont typeface="Aptos"/>
              <a:buChar char="•"/>
            </a:pPr>
            <a:r>
              <a:rPr lang="en-US">
                <a:ea typeface="+mn-lt"/>
                <a:cs typeface="+mn-lt"/>
              </a:rPr>
              <a:t>Download routing</a:t>
            </a:r>
          </a:p>
          <a:p>
            <a:pPr marL="285750" indent="-285750">
              <a:buFont typeface="Aptos"/>
              <a:buChar char="•"/>
            </a:pPr>
            <a:r>
              <a:rPr lang="en-US">
                <a:ea typeface="+mn-lt"/>
                <a:cs typeface="+mn-lt"/>
              </a:rPr>
              <a:t>Logging activities such as link generations, uploads, downloads</a:t>
            </a:r>
          </a:p>
          <a:p>
            <a:pPr marL="285750" indent="-285750">
              <a:buFont typeface="Aptos"/>
              <a:buChar char="•"/>
            </a:pPr>
            <a:r>
              <a:rPr lang="en-US">
                <a:ea typeface="+mn-lt"/>
                <a:cs typeface="+mn-lt"/>
              </a:rPr>
              <a:t>Generating shareable links and applying expiration rules</a:t>
            </a:r>
          </a:p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14BB5-D6E2-B461-C879-C7532275A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BAB7-E1B8-4F95-A3EE-4A571306C015}" type="datetime1"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08E66-A237-039D-AC98-BD2C4950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B3AD5-1D56-B4F8-9F29-0259ED6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3F52D14-208F-04F2-7E5B-57034490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978" y="-5931"/>
            <a:ext cx="4330460" cy="688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0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EC20-10AB-F0ED-C713-3C469DD08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6211"/>
            <a:ext cx="10363200" cy="1187570"/>
          </a:xfrm>
        </p:spPr>
        <p:txBody>
          <a:bodyPr anchor="t">
            <a:normAutofit/>
          </a:bodyPr>
          <a:lstStyle/>
          <a:p>
            <a:r>
              <a:rPr lang="en-US" b="1"/>
              <a:t>Software Architecture - Three-Layer Design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C8A41-1463-5354-CA2E-287F18632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216679"/>
            <a:ext cx="3981774" cy="414037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b="1"/>
              <a:t>Data Layer: File storage, metadata (AWS S3)</a:t>
            </a:r>
          </a:p>
          <a:p>
            <a:pPr>
              <a:lnSpc>
                <a:spcPct val="110000"/>
              </a:lnSpc>
            </a:pPr>
            <a:r>
              <a:rPr lang="en-US" sz="1400"/>
              <a:t>The data layer is responsible for the secure storage of files and retrieval of information (metadata) as required. It has the following components:</a:t>
            </a:r>
          </a:p>
          <a:p>
            <a:pPr>
              <a:lnSpc>
                <a:spcPct val="110000"/>
              </a:lnSpc>
            </a:pPr>
            <a:r>
              <a:rPr lang="en-US" sz="1400"/>
              <a:t>-  Storage of encrypted files via cloud storage services (Amazon S3)</a:t>
            </a:r>
          </a:p>
          <a:p>
            <a:pPr>
              <a:lnSpc>
                <a:spcPct val="110000"/>
              </a:lnSpc>
            </a:pPr>
            <a:r>
              <a:rPr lang="en-US" sz="1400"/>
              <a:t>- Storage of metadata such as file names, authentication tags, and optional passwords</a:t>
            </a:r>
          </a:p>
          <a:p>
            <a:pPr>
              <a:lnSpc>
                <a:spcPct val="110000"/>
              </a:lnSpc>
            </a:pPr>
            <a:r>
              <a:rPr lang="en-US" sz="1400"/>
              <a:t>- Controls the mechanism of expiration and deletion of files as requested by the user</a:t>
            </a:r>
          </a:p>
          <a:p>
            <a:pPr>
              <a:lnSpc>
                <a:spcPct val="110000"/>
              </a:lnSpc>
            </a:pPr>
            <a:endParaRPr lang="en-US" sz="140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C7C3D7-280B-0286-AC10-E5FB804F0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662" y="2221326"/>
            <a:ext cx="4197156" cy="3863518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AC1A2-58E0-4C22-5CB0-869E7322A7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65E5AE2-ABD8-4DCE-828D-AF5B6DFAA5FD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58CFC-9CDB-AF38-DCD9-D8C5CFCD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C8043-AF6C-4E29-2926-DE688C3C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2A9BE4-D114-5A48-4CB5-ACBF4A690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556" y="2219648"/>
            <a:ext cx="2262753" cy="385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54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87C9-1D8C-B17F-ABAB-B5E1C2AFA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 anchor="t">
            <a:normAutofit/>
          </a:bodyPr>
          <a:lstStyle/>
          <a:p>
            <a:r>
              <a:rPr lang="en-US"/>
              <a:t>Benefits of Three-Layer Design</a:t>
            </a:r>
          </a:p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DC37C-E4F0-D567-06C0-D2F675B9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D13765-67A1-450D-B6D1-2692BE87A416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8DC3F-59CD-AB9E-C2CC-AC2DE7B5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5200C-F002-23A8-B869-19F22737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10" name="Text Placeholder 3">
            <a:extLst>
              <a:ext uri="{FF2B5EF4-FFF2-40B4-BE49-F238E27FC236}">
                <a16:creationId xmlns:a16="http://schemas.microsoft.com/office/drawing/2014/main" id="{E9524CA9-9E52-9AF1-EEA7-6D78F2A81F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026291"/>
              </p:ext>
            </p:extLst>
          </p:nvPr>
        </p:nvGraphicFramePr>
        <p:xfrm>
          <a:off x="914399" y="2559171"/>
          <a:ext cx="10363200" cy="3382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432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23A8-80A3-F60A-4BEA-3013D6A18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>
            <a:normAutofit/>
          </a:bodyPr>
          <a:lstStyle/>
          <a:p>
            <a:r>
              <a:rPr lang="en-US"/>
              <a:t>Design Patterns</a:t>
            </a:r>
          </a:p>
        </p:txBody>
      </p:sp>
      <p:pic>
        <p:nvPicPr>
          <p:cNvPr id="9" name="Picture Placeholder 8" descr="A diagram with text and images&#10;&#10;AI-generated content may be incorrect.">
            <a:extLst>
              <a:ext uri="{FF2B5EF4-FFF2-40B4-BE49-F238E27FC236}">
                <a16:creationId xmlns:a16="http://schemas.microsoft.com/office/drawing/2014/main" id="{E7753D34-823A-080A-D359-AD9ABFB27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5402450" y="987425"/>
            <a:ext cx="5733676" cy="4873625"/>
          </a:xfrm>
          <a:prstGeom prst="rect">
            <a:avLst/>
          </a:prstGeom>
          <a:noFill/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9FA0C-ACEC-9FF4-5E2C-E8BA3D860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Design Patterns  helps to enhances the reusability of code</a:t>
            </a:r>
          </a:p>
          <a:p>
            <a:r>
              <a:rPr lang="en-US" dirty="0"/>
              <a:t>The design pattern used in the project:</a:t>
            </a:r>
          </a:p>
          <a:p>
            <a:pPr marL="285750" indent="-285750">
              <a:lnSpc>
                <a:spcPct val="109999"/>
              </a:lnSpc>
              <a:buChar char="•"/>
            </a:pPr>
            <a:r>
              <a:rPr lang="en-US" dirty="0">
                <a:ea typeface="+mn-lt"/>
                <a:cs typeface="+mn-lt"/>
              </a:rPr>
              <a:t>Facade</a:t>
            </a:r>
            <a:endParaRPr lang="en-US" dirty="0"/>
          </a:p>
          <a:p>
            <a:pPr marL="285750" indent="-285750">
              <a:lnSpc>
                <a:spcPct val="109999"/>
              </a:lnSpc>
              <a:buChar char="•"/>
            </a:pPr>
            <a:r>
              <a:rPr lang="en-US" dirty="0">
                <a:ea typeface="+mn-lt"/>
                <a:cs typeface="+mn-lt"/>
              </a:rPr>
              <a:t>Factory</a:t>
            </a:r>
            <a:endParaRPr lang="en-US" dirty="0"/>
          </a:p>
          <a:p>
            <a:pPr marL="285750" indent="-285750">
              <a:lnSpc>
                <a:spcPct val="109999"/>
              </a:lnSpc>
              <a:buChar char="•"/>
            </a:pPr>
            <a:r>
              <a:rPr lang="en-US" dirty="0">
                <a:ea typeface="+mn-lt"/>
                <a:cs typeface="+mn-lt"/>
              </a:rPr>
              <a:t>Singleton</a:t>
            </a:r>
            <a:endParaRPr lang="en-US" dirty="0"/>
          </a:p>
          <a:p>
            <a:pPr>
              <a:lnSpc>
                <a:spcPct val="109999"/>
              </a:lnSpc>
            </a:pPr>
            <a:endParaRPr lang="en-US" dirty="0"/>
          </a:p>
          <a:p>
            <a:endParaRPr lang="en-US"/>
          </a:p>
          <a:p>
            <a:pPr marL="342900" indent="-342900">
              <a:buChar char="•"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8822A-983C-3CFE-0C7D-F264FD4F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0B87B2-8603-40BE-A2EC-4A9B68A29261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01DA-FF62-3F71-560D-15BA3691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C6F5B-FF82-E6D2-30DD-EDF9EE9C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9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9E1B-8583-C27D-3301-05CC6331A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Facade Pattern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4ABCE-9059-19C7-A8A3-93FEC2199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4615" y="2231188"/>
            <a:ext cx="4957727" cy="432404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</a:rPr>
              <a:t>Provide a simple interface over a complex subsystem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Two “facade” methods in </a:t>
            </a:r>
            <a:r>
              <a:rPr lang="en-US">
                <a:latin typeface="Consolas"/>
                <a:ea typeface="+mn-lt"/>
                <a:cs typeface="+mn-lt"/>
              </a:rPr>
              <a:t>server/filesencryptdecrypt.js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5750" indent="-285750">
              <a:buFont typeface="Courier New"/>
              <a:buChar char="o"/>
            </a:pPr>
            <a:r>
              <a:rPr lang="en-US" err="1">
                <a:latin typeface="Consolas"/>
                <a:ea typeface="+mn-lt"/>
                <a:cs typeface="+mn-lt"/>
              </a:rPr>
              <a:t>uploadFile</a:t>
            </a:r>
            <a:r>
              <a:rPr lang="en-US">
                <a:latin typeface="Consolas"/>
                <a:ea typeface="+mn-lt"/>
                <a:cs typeface="+mn-lt"/>
              </a:rPr>
              <a:t>(</a:t>
            </a:r>
            <a:r>
              <a:rPr lang="en-US" err="1">
                <a:latin typeface="Consolas"/>
                <a:ea typeface="+mn-lt"/>
                <a:cs typeface="+mn-lt"/>
              </a:rPr>
              <a:t>req,res</a:t>
            </a:r>
            <a:r>
              <a:rPr lang="en-US">
                <a:latin typeface="Consolas"/>
                <a:ea typeface="+mn-lt"/>
                <a:cs typeface="+mn-lt"/>
              </a:rPr>
              <a:t>)</a:t>
            </a:r>
            <a:endParaRPr lang="en-US"/>
          </a:p>
          <a:p>
            <a:pPr marL="285750" indent="-285750">
              <a:buFont typeface="Courier New"/>
              <a:buChar char="o"/>
            </a:pPr>
            <a:r>
              <a:rPr lang="en-US" err="1">
                <a:latin typeface="Consolas"/>
                <a:ea typeface="+mn-lt"/>
                <a:cs typeface="+mn-lt"/>
              </a:rPr>
              <a:t>downloadFile</a:t>
            </a:r>
            <a:r>
              <a:rPr lang="en-US">
                <a:latin typeface="Consolas"/>
                <a:ea typeface="+mn-lt"/>
                <a:cs typeface="+mn-lt"/>
              </a:rPr>
              <a:t>(</a:t>
            </a:r>
            <a:r>
              <a:rPr lang="en-US" err="1">
                <a:latin typeface="Consolas"/>
                <a:ea typeface="+mn-lt"/>
                <a:cs typeface="+mn-lt"/>
              </a:rPr>
              <a:t>req,res</a:t>
            </a:r>
            <a:r>
              <a:rPr lang="en-US">
                <a:latin typeface="Consolas"/>
                <a:ea typeface="+mn-lt"/>
                <a:cs typeface="+mn-lt"/>
              </a:rPr>
              <a:t>)</a:t>
            </a:r>
            <a:endParaRPr lang="en-US">
              <a:latin typeface="Grandview Display"/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>
              <a:latin typeface="Consolas"/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Consolas"/>
                <a:ea typeface="+mn-lt"/>
                <a:cs typeface="+mn-lt"/>
              </a:rPr>
              <a:t>Hide all of:</a:t>
            </a:r>
          </a:p>
          <a:p>
            <a:pPr marL="285750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PBKDF2 key derivation</a:t>
            </a:r>
            <a:endParaRPr lang="en-US"/>
          </a:p>
          <a:p>
            <a:pPr marL="285750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AES-GCM cipher setup</a:t>
            </a:r>
            <a:endParaRPr lang="en-US"/>
          </a:p>
          <a:p>
            <a:pPr marL="285750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Stream pipeline (encryption/decryption)</a:t>
            </a:r>
            <a:endParaRPr lang="en-US"/>
          </a:p>
          <a:p>
            <a:pPr marL="285750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S3 upload/download</a:t>
            </a:r>
            <a:endParaRPr lang="en-US"/>
          </a:p>
          <a:p>
            <a:pPr marL="285750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Email/SMS notifications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F3B90-F0B2-8F89-3D0A-B68724CF5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93392C3-3614-4C4E-BE6F-67D404FE6BE0}" type="datetime1"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3728E-D755-5093-233C-A545E055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2644F-3307-3AF1-F901-2B00B24A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16" name="Picture 1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33B8BC6-E6F5-0F98-57E4-BF4ED4455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254" y="1907300"/>
            <a:ext cx="6472402" cy="365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2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E789-6821-1BC1-A890-5FF6506C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 anchor="t">
            <a:normAutofit/>
          </a:bodyPr>
          <a:lstStyle/>
          <a:p>
            <a:r>
              <a:rPr lang="en-US"/>
              <a:t>Factory Pattern</a:t>
            </a:r>
          </a:p>
        </p:txBody>
      </p:sp>
      <p:pic>
        <p:nvPicPr>
          <p:cNvPr id="3" name="Picture 2" descr="A computer screen with text and numbers">
            <a:extLst>
              <a:ext uri="{FF2B5EF4-FFF2-40B4-BE49-F238E27FC236}">
                <a16:creationId xmlns:a16="http://schemas.microsoft.com/office/drawing/2014/main" id="{8021CB65-6778-248B-879D-EF3437E9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82516"/>
            <a:ext cx="5105400" cy="944498"/>
          </a:xfrm>
          <a:prstGeom prst="rect">
            <a:avLst/>
          </a:prstGeom>
          <a:noFill/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AF95E-E51A-1614-0FFB-5998E16D4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Encapsulate object/token creation behind a simple API.</a:t>
            </a:r>
          </a:p>
          <a:p>
            <a:pPr>
              <a:lnSpc>
                <a:spcPct val="110000"/>
              </a:lnSpc>
            </a:pPr>
            <a:r>
              <a:rPr lang="en-US" sz="1400" b="1"/>
              <a:t>Our Implementation</a:t>
            </a:r>
            <a:br>
              <a:rPr lang="en-US" sz="1400" b="1"/>
            </a:br>
            <a:r>
              <a:rPr lang="en-US" sz="1400" b="1"/>
              <a:t> </a:t>
            </a:r>
            <a:r>
              <a:rPr lang="en-US" sz="1400" err="1"/>
              <a:t>generateOTP</a:t>
            </a:r>
            <a:r>
              <a:rPr lang="en-US" sz="1400"/>
              <a:t>() for one-time codes</a:t>
            </a:r>
            <a:br>
              <a:rPr lang="en-US" sz="1400"/>
            </a:br>
            <a:r>
              <a:rPr lang="en-US" sz="1400"/>
              <a:t> </a:t>
            </a:r>
            <a:r>
              <a:rPr lang="en-US" sz="1400" err="1"/>
              <a:t>crypto.randomUUID</a:t>
            </a:r>
            <a:r>
              <a:rPr lang="en-US" sz="1400"/>
              <a:t>() for unique file IDs</a:t>
            </a:r>
          </a:p>
          <a:p>
            <a:pPr>
              <a:lnSpc>
                <a:spcPct val="110000"/>
              </a:lnSpc>
            </a:pPr>
            <a:r>
              <a:rPr lang="en-US" sz="1400" b="1"/>
              <a:t>Location</a:t>
            </a:r>
            <a:br>
              <a:rPr lang="en-US" sz="1400" b="1"/>
            </a:br>
            <a:r>
              <a:rPr lang="en-US" sz="1400" b="1"/>
              <a:t> Helpers at the top of </a:t>
            </a:r>
            <a:r>
              <a:rPr lang="en-US" sz="1400"/>
              <a:t>server/filesencryptdecrypt.js</a:t>
            </a:r>
          </a:p>
          <a:p>
            <a:pPr>
              <a:lnSpc>
                <a:spcPct val="110000"/>
              </a:lnSpc>
            </a:pPr>
            <a:r>
              <a:rPr lang="en-US" sz="1400"/>
              <a:t>Centralizes randomness/format logic; </a:t>
            </a:r>
          </a:p>
          <a:p>
            <a:pPr>
              <a:lnSpc>
                <a:spcPct val="110000"/>
              </a:lnSpc>
            </a:pPr>
            <a:r>
              <a:rPr lang="en-US" sz="1400"/>
              <a:t>you “ask” the factory for a new token or ID without worrying how it’s made.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E8AD8-4BFE-ACE4-B174-684C89B7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091D431-AE4D-46B7-AA6F-A787923CE395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4CC9B-568D-57AD-BCE8-BC99ADA1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26D7F-2835-919C-116F-69F66002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8CB3-0230-43B2-15B1-DE85862E3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4915930" cy="118757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>
                <a:ea typeface="+mj-lt"/>
                <a:cs typeface="+mj-lt"/>
              </a:rPr>
              <a:t>Singleton </a:t>
            </a:r>
            <a:r>
              <a:rPr lang="en-US" sz="3200"/>
              <a:t>Pattern</a:t>
            </a:r>
            <a:br>
              <a:rPr lang="en-US" sz="3200"/>
            </a:br>
            <a:br>
              <a:rPr lang="en-US" sz="3200"/>
            </a:br>
            <a:endParaRPr lang="en-US" sz="1400">
              <a:ea typeface="+mj-lt"/>
              <a:cs typeface="+mj-lt"/>
            </a:endParaRPr>
          </a:p>
          <a:p>
            <a:endParaRPr lang="en-US">
              <a:latin typeface="Grandview Display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223B7-2E3B-A0D8-984A-0449313B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384CD67-CCAE-437A-A9C7-39A28C31C197}" type="datetime1"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5E05A-4819-1479-D2E3-EBD9B5FC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D375F-F35E-D7CB-C8C1-E9F1B972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255ADD-04CD-04F9-BE57-3EB28A6DFF14}"/>
              </a:ext>
            </a:extLst>
          </p:cNvPr>
          <p:cNvSpPr txBox="1"/>
          <p:nvPr/>
        </p:nvSpPr>
        <p:spPr>
          <a:xfrm>
            <a:off x="737330" y="2097137"/>
            <a:ext cx="1048406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The Singleton pattern ensures that a class or module has exactly one instance throughout the application and provides a global point of access to it. </a:t>
            </a:r>
          </a:p>
          <a:p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New file </a:t>
            </a:r>
            <a:r>
              <a:rPr lang="en-US" sz="1600" b="1" dirty="0">
                <a:latin typeface="Consolas"/>
                <a:ea typeface="+mn-lt"/>
                <a:cs typeface="+mn-lt"/>
              </a:rPr>
              <a:t>server/server.js</a:t>
            </a:r>
            <a:r>
              <a:rPr lang="en-US" sz="1600" dirty="0">
                <a:ea typeface="+mn-lt"/>
                <a:cs typeface="+mn-lt"/>
              </a:rPr>
              <a:t> loads </a:t>
            </a:r>
            <a:r>
              <a:rPr lang="en-US" sz="1600" dirty="0">
                <a:latin typeface="Consolas"/>
                <a:ea typeface="+mn-lt"/>
                <a:cs typeface="+mn-lt"/>
              </a:rPr>
              <a:t>.env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i="1" dirty="0">
                <a:ea typeface="+mn-lt"/>
                <a:cs typeface="+mn-lt"/>
              </a:rPr>
              <a:t>once</a:t>
            </a:r>
            <a:r>
              <a:rPr lang="en-US" sz="1600" dirty="0">
                <a:ea typeface="+mn-lt"/>
                <a:cs typeface="+mn-lt"/>
              </a:rPr>
              <a:t> and exports all settings.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Consistency:</a:t>
            </a:r>
            <a:r>
              <a:rPr lang="en-US" sz="1600" dirty="0">
                <a:ea typeface="+mn-lt"/>
                <a:cs typeface="+mn-lt"/>
              </a:rPr>
              <a:t> All parts of the app use the exact same SALT, URLs, bucket names, API keys.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Simplicity:</a:t>
            </a:r>
            <a:r>
              <a:rPr lang="en-US" sz="1600" dirty="0">
                <a:ea typeface="+mn-lt"/>
                <a:cs typeface="+mn-lt"/>
              </a:rPr>
              <a:t> No repeated </a:t>
            </a:r>
            <a:r>
              <a:rPr lang="en-US" sz="1600" dirty="0" err="1">
                <a:latin typeface="Consolas"/>
                <a:ea typeface="+mn-lt"/>
                <a:cs typeface="+mn-lt"/>
              </a:rPr>
              <a:t>process.env</a:t>
            </a:r>
            <a:r>
              <a:rPr lang="en-US" sz="1600" dirty="0">
                <a:ea typeface="+mn-lt"/>
                <a:cs typeface="+mn-lt"/>
              </a:rPr>
              <a:t> lookups or mismatched values.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Testability:</a:t>
            </a:r>
            <a:r>
              <a:rPr lang="en-US" sz="1600" dirty="0">
                <a:ea typeface="+mn-lt"/>
                <a:cs typeface="+mn-lt"/>
              </a:rPr>
              <a:t> Swap in mock configs during testing by pointing </a:t>
            </a:r>
            <a:r>
              <a:rPr lang="en-US" sz="1600" dirty="0">
                <a:latin typeface="Consolas"/>
                <a:ea typeface="+mn-lt"/>
                <a:cs typeface="+mn-lt"/>
              </a:rPr>
              <a:t>NODE_PATH</a:t>
            </a:r>
            <a:r>
              <a:rPr lang="en-US" sz="1600" dirty="0">
                <a:ea typeface="+mn-lt"/>
                <a:cs typeface="+mn-lt"/>
              </a:rPr>
              <a:t> or using module stubs.</a:t>
            </a:r>
            <a:endParaRPr lang="en-US" dirty="0"/>
          </a:p>
          <a:p>
            <a:endParaRPr lang="en-US" sz="1600" b="1">
              <a:ea typeface="+mn-lt"/>
              <a:cs typeface="+mn-lt"/>
            </a:endParaRPr>
          </a:p>
          <a:p>
            <a:endParaRPr lang="en-US" sz="1600">
              <a:ea typeface="+mn-lt"/>
              <a:cs typeface="+mn-lt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3C6ABF9-49EA-6B83-9978-4AB86BA1A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3974646"/>
            <a:ext cx="89916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40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BE6CD-5542-0C0D-8BD3-287E8798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62E0-E8F3-379A-A4BF-A802EE52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 anchor="t">
            <a:normAutofit/>
          </a:bodyPr>
          <a:lstStyle/>
          <a:p>
            <a:r>
              <a:rPr lang="en-US"/>
              <a:t>What We’ve Built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E1AE-AD8A-2624-D773-99A9253C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E12541-E8B5-4C3B-915E-67B03B522546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D4E42-CC18-5E34-97C8-2D36AA16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E67C1-8721-47F4-DEB8-6B617D81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0596CAB-179C-D0AE-101C-6937CC76AE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2003169"/>
              </p:ext>
            </p:extLst>
          </p:nvPr>
        </p:nvGraphicFramePr>
        <p:xfrm>
          <a:off x="914399" y="2559171"/>
          <a:ext cx="10363200" cy="3382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8652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6727-0C1A-EA47-9637-397B59CD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86AC-3D85-D2D7-E57C-6A1F7274D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 anchor="t">
            <a:normAutofit/>
          </a:bodyPr>
          <a:lstStyle/>
          <a:p>
            <a:r>
              <a:rPr lang="en-US" sz="3200"/>
              <a:t>Uploading Page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51E86-54A2-C02F-E130-BE55B262E6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E12541-E8B5-4C3B-915E-67B03B522546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4FDF2-0674-5707-E2F6-EF6E6836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A512A-9E6A-C0F1-8EA9-5B45079B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3" name="Picture 2" descr="A screenshot of a qr code&#10;&#10;AI-generated content may be incorrect.">
            <a:extLst>
              <a:ext uri="{FF2B5EF4-FFF2-40B4-BE49-F238E27FC236}">
                <a16:creationId xmlns:a16="http://schemas.microsoft.com/office/drawing/2014/main" id="{5028B5C4-D7C4-1518-8BF1-26C6C928E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170" y="1876096"/>
            <a:ext cx="4875012" cy="4661339"/>
          </a:xfrm>
          <a:prstGeom prst="rect">
            <a:avLst/>
          </a:prstGeom>
        </p:spPr>
      </p:pic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E3338D7-0D3D-BE80-4A90-6390A1786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37" y="2149366"/>
            <a:ext cx="5392333" cy="440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6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A3CF-6AB6-9851-4CA8-FDF049D09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CD70-BCB3-E484-0C52-857C4860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 anchor="t">
            <a:normAutofit/>
          </a:bodyPr>
          <a:lstStyle/>
          <a:p>
            <a:r>
              <a:rPr lang="en-US"/>
              <a:t>Download Page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FBB757-C62D-85AC-04F2-2FC2DC5B1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35" b="1"/>
          <a:stretch>
            <a:fillRect/>
          </a:stretch>
        </p:blipFill>
        <p:spPr>
          <a:xfrm>
            <a:off x="3743819" y="2327943"/>
            <a:ext cx="4283946" cy="3382658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98EF4-B930-4C7C-4560-25D745662D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E12541-E8B5-4C3B-915E-67B03B522546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86E22-81F4-20BF-F8FE-3F790C36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76242-D35B-E698-6DB9-7201FCAE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92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F412-63C3-928C-4898-42DC1D23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A6559-936B-F6AC-0455-2948445A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800" b="1"/>
              <a:t>Thank you</a:t>
            </a:r>
            <a:br>
              <a:rPr lang="en-US" sz="4800" b="1"/>
            </a:br>
            <a:br>
              <a:rPr lang="en-US" sz="4800" b="1"/>
            </a:br>
            <a:endParaRPr lang="en-US" sz="4800" b="1"/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CEF86D6-09E6-4199-ADD6-38B9B8BC7F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13" b="8650"/>
          <a:stretch>
            <a:fillRect/>
          </a:stretch>
        </p:blipFill>
        <p:spPr>
          <a:xfrm>
            <a:off x="1344245" y="2507069"/>
            <a:ext cx="10363200" cy="33826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E0F9E-E3B3-6A1C-8401-A4000E967D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E12541-E8B5-4C3B-915E-67B03B522546}" type="datetime1">
              <a:rPr lang="en-US"/>
              <a:pPr>
                <a:spcAft>
                  <a:spcPts val="600"/>
                </a:spcAft>
              </a:pPr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825A9-EAA2-41E7-CECE-1DC88645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FA879-D2F5-44A8-A395-09E34E20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197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F07F607-EA90-420F-8FAA-EDDD026FA373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DashVTI</vt:lpstr>
      <vt:lpstr>Secdrop- Secure Encrypted File Sharing Platform</vt:lpstr>
      <vt:lpstr>Problem Definition</vt:lpstr>
      <vt:lpstr>Application Benefits </vt:lpstr>
      <vt:lpstr>USE CASE DIAGRAM</vt:lpstr>
      <vt:lpstr>USE CASE DIAGRAM</vt:lpstr>
      <vt:lpstr>Software Architecture - Three-Layer Design</vt:lpstr>
      <vt:lpstr>Software Architecture - Three-Layer Design</vt:lpstr>
      <vt:lpstr>Software Architecture - Three-Layer Design</vt:lpstr>
      <vt:lpstr>Benefits of Three-Layer Design </vt:lpstr>
      <vt:lpstr>Design Patterns</vt:lpstr>
      <vt:lpstr>Facade Pattern</vt:lpstr>
      <vt:lpstr>Factory Pattern</vt:lpstr>
      <vt:lpstr>Singleton Pattern   </vt:lpstr>
      <vt:lpstr>What We’ve Built</vt:lpstr>
      <vt:lpstr>Uploading Page</vt:lpstr>
      <vt:lpstr>Download Page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36</cp:revision>
  <dcterms:created xsi:type="dcterms:W3CDTF">2025-07-14T18:43:40Z</dcterms:created>
  <dcterms:modified xsi:type="dcterms:W3CDTF">2026-06-24T18:42:09Z</dcterms:modified>
</cp:coreProperties>
</file>